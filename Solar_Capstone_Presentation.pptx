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104126-04FE-A291-DE19-AE2A6D70FF22}" v="54" dt="2026-08-14T19:10:34.6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iola Abosede Abioye" userId="ec4207e6-d13a-442e-bbfd-40c269465409" providerId="ADAL" clId="{204BF3AA-E6C5-489A-AA56-1177A2995DD8}"/>
    <pc:docChg chg="modSld">
      <pc:chgData name="Abiola Abosede Abioye" userId="ec4207e6-d13a-442e-bbfd-40c269465409" providerId="ADAL" clId="{204BF3AA-E6C5-489A-AA56-1177A2995DD8}" dt="2026-08-11T20:23:19.199" v="21" actId="1036"/>
      <pc:docMkLst>
        <pc:docMk/>
      </pc:docMkLst>
      <pc:sldChg chg="modSp mod">
        <pc:chgData name="Abiola Abosede Abioye" userId="ec4207e6-d13a-442e-bbfd-40c269465409" providerId="ADAL" clId="{204BF3AA-E6C5-489A-AA56-1177A2995DD8}" dt="2026-08-11T20:07:47.909" v="8" actId="20577"/>
        <pc:sldMkLst>
          <pc:docMk/>
          <pc:sldMk cId="0" sldId="257"/>
        </pc:sldMkLst>
        <pc:spChg chg="mod">
          <ac:chgData name="Abiola Abosede Abioye" userId="ec4207e6-d13a-442e-bbfd-40c269465409" providerId="ADAL" clId="{204BF3AA-E6C5-489A-AA56-1177A2995DD8}" dt="2026-08-11T20:07:19.460" v="1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Abiola Abosede Abioye" userId="ec4207e6-d13a-442e-bbfd-40c269465409" providerId="ADAL" clId="{204BF3AA-E6C5-489A-AA56-1177A2995DD8}" dt="2026-08-11T20:07:47.909" v="8" actId="20577"/>
          <ac:spMkLst>
            <pc:docMk/>
            <pc:sldMk cId="0" sldId="257"/>
            <ac:spMk id="14" creationId="{00000000-0000-0000-0000-000000000000}"/>
          </ac:spMkLst>
        </pc:spChg>
      </pc:sldChg>
      <pc:sldChg chg="modSp mod">
        <pc:chgData name="Abiola Abosede Abioye" userId="ec4207e6-d13a-442e-bbfd-40c269465409" providerId="ADAL" clId="{204BF3AA-E6C5-489A-AA56-1177A2995DD8}" dt="2026-08-11T20:08:04.725" v="15" actId="20577"/>
        <pc:sldMkLst>
          <pc:docMk/>
          <pc:sldMk cId="0" sldId="258"/>
        </pc:sldMkLst>
        <pc:spChg chg="mod">
          <ac:chgData name="Abiola Abosede Abioye" userId="ec4207e6-d13a-442e-bbfd-40c269465409" providerId="ADAL" clId="{204BF3AA-E6C5-489A-AA56-1177A2995DD8}" dt="2026-08-11T20:08:04.725" v="15" actId="20577"/>
          <ac:spMkLst>
            <pc:docMk/>
            <pc:sldMk cId="0" sldId="258"/>
            <ac:spMk id="66" creationId="{00000000-0000-0000-0000-000000000000}"/>
          </ac:spMkLst>
        </pc:spChg>
      </pc:sldChg>
      <pc:sldChg chg="modSp mod">
        <pc:chgData name="Abiola Abosede Abioye" userId="ec4207e6-d13a-442e-bbfd-40c269465409" providerId="ADAL" clId="{204BF3AA-E6C5-489A-AA56-1177A2995DD8}" dt="2026-08-11T20:08:44.657" v="17" actId="20577"/>
        <pc:sldMkLst>
          <pc:docMk/>
          <pc:sldMk cId="0" sldId="261"/>
        </pc:sldMkLst>
        <pc:spChg chg="mod">
          <ac:chgData name="Abiola Abosede Abioye" userId="ec4207e6-d13a-442e-bbfd-40c269465409" providerId="ADAL" clId="{204BF3AA-E6C5-489A-AA56-1177A2995DD8}" dt="2026-08-11T20:08:44.657" v="17" actId="20577"/>
          <ac:spMkLst>
            <pc:docMk/>
            <pc:sldMk cId="0" sldId="261"/>
            <ac:spMk id="161" creationId="{00000000-0000-0000-0000-000000000000}"/>
          </ac:spMkLst>
        </pc:spChg>
      </pc:sldChg>
      <pc:sldChg chg="modSp mod">
        <pc:chgData name="Abiola Abosede Abioye" userId="ec4207e6-d13a-442e-bbfd-40c269465409" providerId="ADAL" clId="{204BF3AA-E6C5-489A-AA56-1177A2995DD8}" dt="2026-08-11T20:23:19.199" v="21" actId="1036"/>
        <pc:sldMkLst>
          <pc:docMk/>
          <pc:sldMk cId="0" sldId="264"/>
        </pc:sldMkLst>
        <pc:spChg chg="mod">
          <ac:chgData name="Abiola Abosede Abioye" userId="ec4207e6-d13a-442e-bbfd-40c269465409" providerId="ADAL" clId="{204BF3AA-E6C5-489A-AA56-1177A2995DD8}" dt="2026-08-11T20:23:19.199" v="21" actId="1036"/>
          <ac:spMkLst>
            <pc:docMk/>
            <pc:sldMk cId="0" sldId="264"/>
            <ac:spMk id="5" creationId="{00000000-0000-0000-0000-000000000000}"/>
          </ac:spMkLst>
        </pc:spChg>
      </pc:sldChg>
      <pc:sldChg chg="modSp mod">
        <pc:chgData name="Abiola Abosede Abioye" userId="ec4207e6-d13a-442e-bbfd-40c269465409" providerId="ADAL" clId="{204BF3AA-E6C5-489A-AA56-1177A2995DD8}" dt="2026-08-11T20:11:40.861" v="20" actId="20577"/>
        <pc:sldMkLst>
          <pc:docMk/>
          <pc:sldMk cId="0" sldId="266"/>
        </pc:sldMkLst>
        <pc:spChg chg="mod">
          <ac:chgData name="Abiola Abosede Abioye" userId="ec4207e6-d13a-442e-bbfd-40c269465409" providerId="ADAL" clId="{204BF3AA-E6C5-489A-AA56-1177A2995DD8}" dt="2026-08-11T20:11:40.861" v="20" actId="20577"/>
          <ac:spMkLst>
            <pc:docMk/>
            <pc:sldMk cId="0" sldId="266"/>
            <ac:spMk id="30" creationId="{00000000-0000-0000-0000-000000000000}"/>
          </ac:spMkLst>
        </pc:spChg>
      </pc:sldChg>
    </pc:docChg>
  </pc:docChgLst>
  <pc:docChgLst>
    <pc:chgData name="Prutha Ketan Chokshi" userId="S::pruthaketan.chokshi@edu.sait.ca::78842704-351c-4338-a60d-dccff2370efd" providerId="AD" clId="Web-{2A6E207B-889B-6A47-53C1-9D3B647E5076}"/>
    <pc:docChg chg="addSld modSld">
      <pc:chgData name="Prutha Ketan Chokshi" userId="S::pruthaketan.chokshi@edu.sait.ca::78842704-351c-4338-a60d-dccff2370efd" providerId="AD" clId="Web-{2A6E207B-889B-6A47-53C1-9D3B647E5076}" dt="2026-08-11T20:21:40.487" v="130" actId="1076"/>
      <pc:docMkLst>
        <pc:docMk/>
      </pc:docMkLst>
      <pc:sldChg chg="modSp">
        <pc:chgData name="Prutha Ketan Chokshi" userId="S::pruthaketan.chokshi@edu.sait.ca::78842704-351c-4338-a60d-dccff2370efd" providerId="AD" clId="Web-{2A6E207B-889B-6A47-53C1-9D3B647E5076}" dt="2026-08-11T20:13:32.035" v="11" actId="20577"/>
        <pc:sldMkLst>
          <pc:docMk/>
          <pc:sldMk cId="0" sldId="257"/>
        </pc:sldMkLst>
        <pc:spChg chg="mod">
          <ac:chgData name="Prutha Ketan Chokshi" userId="S::pruthaketan.chokshi@edu.sait.ca::78842704-351c-4338-a60d-dccff2370efd" providerId="AD" clId="Web-{2A6E207B-889B-6A47-53C1-9D3B647E5076}" dt="2026-08-11T20:13:32.035" v="11" actId="20577"/>
          <ac:spMkLst>
            <pc:docMk/>
            <pc:sldMk cId="0" sldId="257"/>
            <ac:spMk id="33" creationId="{00000000-0000-0000-0000-000000000000}"/>
          </ac:spMkLst>
        </pc:spChg>
      </pc:sldChg>
      <pc:sldChg chg="modSp">
        <pc:chgData name="Prutha Ketan Chokshi" userId="S::pruthaketan.chokshi@edu.sait.ca::78842704-351c-4338-a60d-dccff2370efd" providerId="AD" clId="Web-{2A6E207B-889B-6A47-53C1-9D3B647E5076}" dt="2026-08-11T20:14:04.363" v="19" actId="20577"/>
        <pc:sldMkLst>
          <pc:docMk/>
          <pc:sldMk cId="0" sldId="259"/>
        </pc:sldMkLst>
        <pc:spChg chg="mod">
          <ac:chgData name="Prutha Ketan Chokshi" userId="S::pruthaketan.chokshi@edu.sait.ca::78842704-351c-4338-a60d-dccff2370efd" providerId="AD" clId="Web-{2A6E207B-889B-6A47-53C1-9D3B647E5076}" dt="2026-08-11T20:14:04.363" v="19" actId="20577"/>
          <ac:spMkLst>
            <pc:docMk/>
            <pc:sldMk cId="0" sldId="259"/>
            <ac:spMk id="23" creationId="{00000000-0000-0000-0000-000000000000}"/>
          </ac:spMkLst>
        </pc:spChg>
        <pc:graphicFrameChg chg="mod modGraphic">
          <ac:chgData name="Prutha Ketan Chokshi" userId="S::pruthaketan.chokshi@edu.sait.ca::78842704-351c-4338-a60d-dccff2370efd" providerId="AD" clId="Web-{2A6E207B-889B-6A47-53C1-9D3B647E5076}" dt="2026-08-11T20:13:53.629" v="15"/>
          <ac:graphicFrameMkLst>
            <pc:docMk/>
            <pc:sldMk cId="0" sldId="259"/>
            <ac:graphicFrameMk id="5" creationId="{00000000-0000-0000-0000-000000000000}"/>
          </ac:graphicFrameMkLst>
        </pc:graphicFrameChg>
      </pc:sldChg>
      <pc:sldChg chg="modSp">
        <pc:chgData name="Prutha Ketan Chokshi" userId="S::pruthaketan.chokshi@edu.sait.ca::78842704-351c-4338-a60d-dccff2370efd" providerId="AD" clId="Web-{2A6E207B-889B-6A47-53C1-9D3B647E5076}" dt="2026-08-11T20:14:32.176" v="24" actId="20577"/>
        <pc:sldMkLst>
          <pc:docMk/>
          <pc:sldMk cId="0" sldId="260"/>
        </pc:sldMkLst>
        <pc:spChg chg="mod">
          <ac:chgData name="Prutha Ketan Chokshi" userId="S::pruthaketan.chokshi@edu.sait.ca::78842704-351c-4338-a60d-dccff2370efd" providerId="AD" clId="Web-{2A6E207B-889B-6A47-53C1-9D3B647E5076}" dt="2026-08-11T20:14:32.176" v="24" actId="20577"/>
          <ac:spMkLst>
            <pc:docMk/>
            <pc:sldMk cId="0" sldId="260"/>
            <ac:spMk id="22" creationId="{00000000-0000-0000-0000-000000000000}"/>
          </ac:spMkLst>
        </pc:spChg>
      </pc:sldChg>
      <pc:sldChg chg="modSp">
        <pc:chgData name="Prutha Ketan Chokshi" userId="S::pruthaketan.chokshi@edu.sait.ca::78842704-351c-4338-a60d-dccff2370efd" providerId="AD" clId="Web-{2A6E207B-889B-6A47-53C1-9D3B647E5076}" dt="2026-08-11T20:15:25.566" v="29" actId="20577"/>
        <pc:sldMkLst>
          <pc:docMk/>
          <pc:sldMk cId="0" sldId="262"/>
        </pc:sldMkLst>
        <pc:spChg chg="mod">
          <ac:chgData name="Prutha Ketan Chokshi" userId="S::pruthaketan.chokshi@edu.sait.ca::78842704-351c-4338-a60d-dccff2370efd" providerId="AD" clId="Web-{2A6E207B-889B-6A47-53C1-9D3B647E5076}" dt="2026-08-11T20:15:25.566" v="29" actId="20577"/>
          <ac:spMkLst>
            <pc:docMk/>
            <pc:sldMk cId="0" sldId="262"/>
            <ac:spMk id="23" creationId="{00000000-0000-0000-0000-000000000000}"/>
          </ac:spMkLst>
        </pc:spChg>
        <pc:spChg chg="mod">
          <ac:chgData name="Prutha Ketan Chokshi" userId="S::pruthaketan.chokshi@edu.sait.ca::78842704-351c-4338-a60d-dccff2370efd" providerId="AD" clId="Web-{2A6E207B-889B-6A47-53C1-9D3B647E5076}" dt="2026-08-11T20:15:16.238" v="28" actId="20577"/>
          <ac:spMkLst>
            <pc:docMk/>
            <pc:sldMk cId="0" sldId="262"/>
            <ac:spMk id="27" creationId="{00000000-0000-0000-0000-000000000000}"/>
          </ac:spMkLst>
        </pc:spChg>
      </pc:sldChg>
      <pc:sldChg chg="modSp">
        <pc:chgData name="Prutha Ketan Chokshi" userId="S::pruthaketan.chokshi@edu.sait.ca::78842704-351c-4338-a60d-dccff2370efd" providerId="AD" clId="Web-{2A6E207B-889B-6A47-53C1-9D3B647E5076}" dt="2026-08-11T20:16:14.519" v="39" actId="20577"/>
        <pc:sldMkLst>
          <pc:docMk/>
          <pc:sldMk cId="0" sldId="264"/>
        </pc:sldMkLst>
        <pc:spChg chg="mod">
          <ac:chgData name="Prutha Ketan Chokshi" userId="S::pruthaketan.chokshi@edu.sait.ca::78842704-351c-4338-a60d-dccff2370efd" providerId="AD" clId="Web-{2A6E207B-889B-6A47-53C1-9D3B647E5076}" dt="2026-08-11T20:16:14.519" v="39" actId="20577"/>
          <ac:spMkLst>
            <pc:docMk/>
            <pc:sldMk cId="0" sldId="264"/>
            <ac:spMk id="23" creationId="{00000000-0000-0000-0000-000000000000}"/>
          </ac:spMkLst>
        </pc:spChg>
      </pc:sldChg>
      <pc:sldChg chg="modSp">
        <pc:chgData name="Prutha Ketan Chokshi" userId="S::pruthaketan.chokshi@edu.sait.ca::78842704-351c-4338-a60d-dccff2370efd" providerId="AD" clId="Web-{2A6E207B-889B-6A47-53C1-9D3B647E5076}" dt="2026-08-11T20:16:32.972" v="45" actId="20577"/>
        <pc:sldMkLst>
          <pc:docMk/>
          <pc:sldMk cId="0" sldId="265"/>
        </pc:sldMkLst>
        <pc:spChg chg="mod">
          <ac:chgData name="Prutha Ketan Chokshi" userId="S::pruthaketan.chokshi@edu.sait.ca::78842704-351c-4338-a60d-dccff2370efd" providerId="AD" clId="Web-{2A6E207B-889B-6A47-53C1-9D3B647E5076}" dt="2026-08-11T20:16:32.972" v="45" actId="20577"/>
          <ac:spMkLst>
            <pc:docMk/>
            <pc:sldMk cId="0" sldId="265"/>
            <ac:spMk id="9" creationId="{00000000-0000-0000-0000-000000000000}"/>
          </ac:spMkLst>
        </pc:spChg>
      </pc:sldChg>
      <pc:sldChg chg="modSp">
        <pc:chgData name="Prutha Ketan Chokshi" userId="S::pruthaketan.chokshi@edu.sait.ca::78842704-351c-4338-a60d-dccff2370efd" providerId="AD" clId="Web-{2A6E207B-889B-6A47-53C1-9D3B647E5076}" dt="2026-08-11T20:17:49.050" v="62" actId="20577"/>
        <pc:sldMkLst>
          <pc:docMk/>
          <pc:sldMk cId="0" sldId="266"/>
        </pc:sldMkLst>
        <pc:spChg chg="mod">
          <ac:chgData name="Prutha Ketan Chokshi" userId="S::pruthaketan.chokshi@edu.sait.ca::78842704-351c-4338-a60d-dccff2370efd" providerId="AD" clId="Web-{2A6E207B-889B-6A47-53C1-9D3B647E5076}" dt="2026-08-11T20:17:15.316" v="51" actId="20577"/>
          <ac:spMkLst>
            <pc:docMk/>
            <pc:sldMk cId="0" sldId="266"/>
            <ac:spMk id="8" creationId="{00000000-0000-0000-0000-000000000000}"/>
          </ac:spMkLst>
        </pc:spChg>
        <pc:spChg chg="mod">
          <ac:chgData name="Prutha Ketan Chokshi" userId="S::pruthaketan.chokshi@edu.sait.ca::78842704-351c-4338-a60d-dccff2370efd" providerId="AD" clId="Web-{2A6E207B-889B-6A47-53C1-9D3B647E5076}" dt="2026-08-11T20:17:49.050" v="62" actId="20577"/>
          <ac:spMkLst>
            <pc:docMk/>
            <pc:sldMk cId="0" sldId="266"/>
            <ac:spMk id="30" creationId="{00000000-0000-0000-0000-000000000000}"/>
          </ac:spMkLst>
        </pc:spChg>
        <pc:spChg chg="mod">
          <ac:chgData name="Prutha Ketan Chokshi" userId="S::pruthaketan.chokshi@edu.sait.ca::78842704-351c-4338-a60d-dccff2370efd" providerId="AD" clId="Web-{2A6E207B-889B-6A47-53C1-9D3B647E5076}" dt="2026-08-11T20:17:27.675" v="55" actId="20577"/>
          <ac:spMkLst>
            <pc:docMk/>
            <pc:sldMk cId="0" sldId="266"/>
            <ac:spMk id="35" creationId="{00000000-0000-0000-0000-000000000000}"/>
          </ac:spMkLst>
        </pc:spChg>
        <pc:spChg chg="mod">
          <ac:chgData name="Prutha Ketan Chokshi" userId="S::pruthaketan.chokshi@edu.sait.ca::78842704-351c-4338-a60d-dccff2370efd" providerId="AD" clId="Web-{2A6E207B-889B-6A47-53C1-9D3B647E5076}" dt="2026-08-11T20:17:41.410" v="61" actId="20577"/>
          <ac:spMkLst>
            <pc:docMk/>
            <pc:sldMk cId="0" sldId="266"/>
            <ac:spMk id="40" creationId="{00000000-0000-0000-0000-000000000000}"/>
          </ac:spMkLst>
        </pc:spChg>
      </pc:sldChg>
      <pc:sldChg chg="delSp modSp">
        <pc:chgData name="Prutha Ketan Chokshi" userId="S::pruthaketan.chokshi@edu.sait.ca::78842704-351c-4338-a60d-dccff2370efd" providerId="AD" clId="Web-{2A6E207B-889B-6A47-53C1-9D3B647E5076}" dt="2026-08-11T20:21:40.487" v="130" actId="1076"/>
        <pc:sldMkLst>
          <pc:docMk/>
          <pc:sldMk cId="0" sldId="267"/>
        </pc:sldMkLst>
        <pc:spChg chg="mod">
          <ac:chgData name="Prutha Ketan Chokshi" userId="S::pruthaketan.chokshi@edu.sait.ca::78842704-351c-4338-a60d-dccff2370efd" providerId="AD" clId="Web-{2A6E207B-889B-6A47-53C1-9D3B647E5076}" dt="2026-08-11T20:21:40.487" v="130" actId="1076"/>
          <ac:spMkLst>
            <pc:docMk/>
            <pc:sldMk cId="0" sldId="267"/>
            <ac:spMk id="11" creationId="{00000000-0000-0000-0000-000000000000}"/>
          </ac:spMkLst>
        </pc:spChg>
        <pc:spChg chg="mod">
          <ac:chgData name="Prutha Ketan Chokshi" userId="S::pruthaketan.chokshi@edu.sait.ca::78842704-351c-4338-a60d-dccff2370efd" providerId="AD" clId="Web-{2A6E207B-889B-6A47-53C1-9D3B647E5076}" dt="2026-08-11T20:21:23.362" v="128" actId="1076"/>
          <ac:spMkLst>
            <pc:docMk/>
            <pc:sldMk cId="0" sldId="267"/>
            <ac:spMk id="15" creationId="{00000000-0000-0000-0000-000000000000}"/>
          </ac:spMkLst>
        </pc:spChg>
        <pc:spChg chg="mod">
          <ac:chgData name="Prutha Ketan Chokshi" userId="S::pruthaketan.chokshi@edu.sait.ca::78842704-351c-4338-a60d-dccff2370efd" providerId="AD" clId="Web-{2A6E207B-889B-6A47-53C1-9D3B647E5076}" dt="2026-08-11T20:21:31.831" v="129" actId="1076"/>
          <ac:spMkLst>
            <pc:docMk/>
            <pc:sldMk cId="0" sldId="267"/>
            <ac:spMk id="23" creationId="{FDCD9B10-C21B-56AC-ED80-822E1F712188}"/>
          </ac:spMkLst>
        </pc:spChg>
      </pc:sldChg>
      <pc:sldChg chg="delSp modSp add replId">
        <pc:chgData name="Prutha Ketan Chokshi" userId="S::pruthaketan.chokshi@edu.sait.ca::78842704-351c-4338-a60d-dccff2370efd" providerId="AD" clId="Web-{2A6E207B-889B-6A47-53C1-9D3B647E5076}" dt="2026-08-11T20:18:58.363" v="89" actId="20577"/>
        <pc:sldMkLst>
          <pc:docMk/>
          <pc:sldMk cId="567835396" sldId="268"/>
        </pc:sldMkLst>
        <pc:spChg chg="mod">
          <ac:chgData name="Prutha Ketan Chokshi" userId="S::pruthaketan.chokshi@edu.sait.ca::78842704-351c-4338-a60d-dccff2370efd" providerId="AD" clId="Web-{2A6E207B-889B-6A47-53C1-9D3B647E5076}" dt="2026-08-11T20:18:58.363" v="89" actId="20577"/>
          <ac:spMkLst>
            <pc:docMk/>
            <pc:sldMk cId="567835396" sldId="268"/>
            <ac:spMk id="12" creationId="{0BE9C711-3728-8BA3-F289-86CF028A74D0}"/>
          </ac:spMkLst>
        </pc:spChg>
        <pc:spChg chg="mod">
          <ac:chgData name="Prutha Ketan Chokshi" userId="S::pruthaketan.chokshi@edu.sait.ca::78842704-351c-4338-a60d-dccff2370efd" providerId="AD" clId="Web-{2A6E207B-889B-6A47-53C1-9D3B647E5076}" dt="2026-08-11T20:18:52.191" v="87" actId="14100"/>
          <ac:spMkLst>
            <pc:docMk/>
            <pc:sldMk cId="567835396" sldId="268"/>
            <ac:spMk id="14" creationId="{F6A0B7D7-C485-0805-8F5B-3DABBC0E6948}"/>
          </ac:spMkLst>
        </pc:spChg>
      </pc:sldChg>
    </pc:docChg>
  </pc:docChgLst>
  <pc:docChgLst>
    <pc:chgData name="Prutha Ketan Chokshi" userId="S::pruthaketan.chokshi@edu.sait.ca::78842704-351c-4338-a60d-dccff2370efd" providerId="AD" clId="Web-{3A104126-04FE-A291-DE19-AE2A6D70FF22}"/>
    <pc:docChg chg="modSld">
      <pc:chgData name="Prutha Ketan Chokshi" userId="S::pruthaketan.chokshi@edu.sait.ca::78842704-351c-4338-a60d-dccff2370efd" providerId="AD" clId="Web-{3A104126-04FE-A291-DE19-AE2A6D70FF22}" dt="2026-08-14T19:10:34.621" v="53" actId="20577"/>
      <pc:docMkLst>
        <pc:docMk/>
      </pc:docMkLst>
      <pc:sldChg chg="modSp">
        <pc:chgData name="Prutha Ketan Chokshi" userId="S::pruthaketan.chokshi@edu.sait.ca::78842704-351c-4338-a60d-dccff2370efd" providerId="AD" clId="Web-{3A104126-04FE-A291-DE19-AE2A6D70FF22}" dt="2026-08-14T19:10:34.621" v="53" actId="20577"/>
        <pc:sldMkLst>
          <pc:docMk/>
          <pc:sldMk cId="0" sldId="256"/>
        </pc:sldMkLst>
        <pc:spChg chg="mod">
          <ac:chgData name="Prutha Ketan Chokshi" userId="S::pruthaketan.chokshi@edu.sait.ca::78842704-351c-4338-a60d-dccff2370efd" providerId="AD" clId="Web-{3A104126-04FE-A291-DE19-AE2A6D70FF22}" dt="2026-08-14T19:10:34.621" v="53" actId="20577"/>
          <ac:spMkLst>
            <pc:docMk/>
            <pc:sldMk cId="0" sldId="256"/>
            <ac:spMk id="21" creationId="{00000000-0000-0000-0000-000000000000}"/>
          </ac:spMkLst>
        </pc:spChg>
      </pc:sldChg>
      <pc:sldChg chg="modSp">
        <pc:chgData name="Prutha Ketan Chokshi" userId="S::pruthaketan.chokshi@edu.sait.ca::78842704-351c-4338-a60d-dccff2370efd" providerId="AD" clId="Web-{3A104126-04FE-A291-DE19-AE2A6D70FF22}" dt="2026-08-14T18:57:37.280" v="48" actId="20577"/>
        <pc:sldMkLst>
          <pc:docMk/>
          <pc:sldMk cId="0" sldId="259"/>
        </pc:sldMkLst>
        <pc:spChg chg="mod">
          <ac:chgData name="Prutha Ketan Chokshi" userId="S::pruthaketan.chokshi@edu.sait.ca::78842704-351c-4338-a60d-dccff2370efd" providerId="AD" clId="Web-{3A104126-04FE-A291-DE19-AE2A6D70FF22}" dt="2026-08-14T18:57:37.280" v="48" actId="20577"/>
          <ac:spMkLst>
            <pc:docMk/>
            <pc:sldMk cId="0" sldId="259"/>
            <ac:spMk id="23" creationId="{00000000-0000-0000-0000-000000000000}"/>
          </ac:spMkLst>
        </pc:spChg>
        <pc:spChg chg="mod">
          <ac:chgData name="Prutha Ketan Chokshi" userId="S::pruthaketan.chokshi@edu.sait.ca::78842704-351c-4338-a60d-dccff2370efd" providerId="AD" clId="Web-{3A104126-04FE-A291-DE19-AE2A6D70FF22}" dt="2026-08-14T18:57:27.015" v="45" actId="20577"/>
          <ac:spMkLst>
            <pc:docMk/>
            <pc:sldMk cId="0" sldId="259"/>
            <ac:spMk id="25" creationId="{00000000-0000-0000-0000-000000000000}"/>
          </ac:spMkLst>
        </pc:spChg>
      </pc:sldChg>
      <pc:sldChg chg="modSp">
        <pc:chgData name="Prutha Ketan Chokshi" userId="S::pruthaketan.chokshi@edu.sait.ca::78842704-351c-4338-a60d-dccff2370efd" providerId="AD" clId="Web-{3A104126-04FE-A291-DE19-AE2A6D70FF22}" dt="2026-08-14T18:44:41.361" v="41" actId="20577"/>
        <pc:sldMkLst>
          <pc:docMk/>
          <pc:sldMk cId="0" sldId="262"/>
        </pc:sldMkLst>
        <pc:spChg chg="mod">
          <ac:chgData name="Prutha Ketan Chokshi" userId="S::pruthaketan.chokshi@edu.sait.ca::78842704-351c-4338-a60d-dccff2370efd" providerId="AD" clId="Web-{3A104126-04FE-A291-DE19-AE2A6D70FF22}" dt="2026-08-14T18:44:41.361" v="41" actId="20577"/>
          <ac:spMkLst>
            <pc:docMk/>
            <pc:sldMk cId="0" sldId="262"/>
            <ac:spMk id="21" creationId="{00000000-0000-0000-0000-000000000000}"/>
          </ac:spMkLst>
        </pc:spChg>
      </pc:sldChg>
      <pc:sldChg chg="modSp">
        <pc:chgData name="Prutha Ketan Chokshi" userId="S::pruthaketan.chokshi@edu.sait.ca::78842704-351c-4338-a60d-dccff2370efd" providerId="AD" clId="Web-{3A104126-04FE-A291-DE19-AE2A6D70FF22}" dt="2026-08-14T18:43:36.518" v="39"/>
        <pc:sldMkLst>
          <pc:docMk/>
          <pc:sldMk cId="0" sldId="265"/>
        </pc:sldMkLst>
        <pc:graphicFrameChg chg="mod modGraphic">
          <ac:chgData name="Prutha Ketan Chokshi" userId="S::pruthaketan.chokshi@edu.sait.ca::78842704-351c-4338-a60d-dccff2370efd" providerId="AD" clId="Web-{3A104126-04FE-A291-DE19-AE2A6D70FF22}" dt="2026-08-14T18:43:36.518" v="39"/>
          <ac:graphicFrameMkLst>
            <pc:docMk/>
            <pc:sldMk cId="0" sldId="265"/>
            <ac:graphicFrameMk id="11" creationId="{00000000-0000-0000-0000-000000000000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4_0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6_0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9_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POA (kWh/m²)</c:v>
                </c:pt>
              </c:strCache>
            </c:strRef>
          </c:tx>
          <c:spPr>
            <a:solidFill>
              <a:srgbClr val="132A4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24303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Edmonton</c:v>
                </c:pt>
                <c:pt idx="1">
                  <c:v>Calgary</c:v>
                </c:pt>
                <c:pt idx="2">
                  <c:v>Medicine Hat</c:v>
                </c:pt>
                <c:pt idx="3">
                  <c:v>Lethbridge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1537</c:v>
                </c:pt>
                <c:pt idx="1">
                  <c:v>1625</c:v>
                </c:pt>
                <c:pt idx="2">
                  <c:v>1659</c:v>
                </c:pt>
                <c:pt idx="3">
                  <c:v>1688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BC-4469-A284-C744DD6115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50" b="1" i="0" u="none" strike="noStrike">
                <a:solidFill>
                  <a:srgbClr val="2430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132A45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24303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Calgary</c:v>
                </c:pt>
                <c:pt idx="1">
                  <c:v>Edmonton</c:v>
                </c:pt>
                <c:pt idx="2">
                  <c:v>Medicine Hat</c:v>
                </c:pt>
                <c:pt idx="3">
                  <c:v>Lethbridge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0.90500000000000003</c:v>
                </c:pt>
                <c:pt idx="1">
                  <c:v>0.91700000000000004</c:v>
                </c:pt>
                <c:pt idx="2">
                  <c:v>0.92200000000000004</c:v>
                </c:pt>
                <c:pt idx="3">
                  <c:v>0.92200000000000004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EE-42F3-B04A-8D86ABF422A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2430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4"/>
          <c:min val="0.85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Lethbridge</c:v>
                </c:pt>
              </c:strCache>
            </c:strRef>
          </c:tx>
          <c:spPr>
            <a:ln w="28575" cap="flat">
              <a:solidFill>
                <a:srgbClr val="F5B700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1998</c:v>
                </c:pt>
                <c:pt idx="1">
                  <c:v>1999</c:v>
                </c:pt>
                <c:pt idx="2">
                  <c:v>2000</c:v>
                </c:pt>
                <c:pt idx="3">
                  <c:v>2001</c:v>
                </c:pt>
                <c:pt idx="4">
                  <c:v>2002</c:v>
                </c:pt>
                <c:pt idx="5">
                  <c:v>2003</c:v>
                </c:pt>
                <c:pt idx="6">
                  <c:v>2004</c:v>
                </c:pt>
                <c:pt idx="7">
                  <c:v>2005</c:v>
                </c:pt>
                <c:pt idx="8">
                  <c:v>2006</c:v>
                </c:pt>
                <c:pt idx="9">
                  <c:v>2007</c:v>
                </c:pt>
                <c:pt idx="10">
                  <c:v>2008</c:v>
                </c:pt>
                <c:pt idx="11">
                  <c:v>2009</c:v>
                </c:pt>
                <c:pt idx="12">
                  <c:v>2010</c:v>
                </c:pt>
                <c:pt idx="13">
                  <c:v>2011</c:v>
                </c:pt>
                <c:pt idx="14">
                  <c:v>2012</c:v>
                </c:pt>
                <c:pt idx="15">
                  <c:v>2013</c:v>
                </c:pt>
                <c:pt idx="16">
                  <c:v>2014</c:v>
                </c:pt>
                <c:pt idx="17">
                  <c:v>2015</c:v>
                </c:pt>
                <c:pt idx="18">
                  <c:v>2016</c:v>
                </c:pt>
                <c:pt idx="19">
                  <c:v>2017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1417.6</c:v>
                </c:pt>
                <c:pt idx="1">
                  <c:v>1364.3</c:v>
                </c:pt>
                <c:pt idx="2">
                  <c:v>1415.9</c:v>
                </c:pt>
                <c:pt idx="3">
                  <c:v>1429.3</c:v>
                </c:pt>
                <c:pt idx="4">
                  <c:v>1358.6</c:v>
                </c:pt>
                <c:pt idx="5">
                  <c:v>1383.7</c:v>
                </c:pt>
                <c:pt idx="6">
                  <c:v>1369.8</c:v>
                </c:pt>
                <c:pt idx="7">
                  <c:v>1379.4</c:v>
                </c:pt>
                <c:pt idx="8">
                  <c:v>1406.6</c:v>
                </c:pt>
                <c:pt idx="9">
                  <c:v>1386.2</c:v>
                </c:pt>
                <c:pt idx="10">
                  <c:v>1376.7</c:v>
                </c:pt>
                <c:pt idx="11">
                  <c:v>1416.5</c:v>
                </c:pt>
                <c:pt idx="12">
                  <c:v>1310.0999999999999</c:v>
                </c:pt>
                <c:pt idx="13">
                  <c:v>1372.9</c:v>
                </c:pt>
                <c:pt idx="14">
                  <c:v>1377.3</c:v>
                </c:pt>
                <c:pt idx="15">
                  <c:v>1403.7</c:v>
                </c:pt>
                <c:pt idx="16">
                  <c:v>1398.4</c:v>
                </c:pt>
                <c:pt idx="17">
                  <c:v>1443.4</c:v>
                </c:pt>
                <c:pt idx="18">
                  <c:v>1425</c:v>
                </c:pt>
                <c:pt idx="19">
                  <c:v>1489.6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8E5-45BE-BEDC-94EA608C49B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Medicine Hat</c:v>
                </c:pt>
              </c:strCache>
            </c:strRef>
          </c:tx>
          <c:spPr>
            <a:ln w="28575" cap="flat">
              <a:solidFill>
                <a:srgbClr val="EF6C00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1998</c:v>
                </c:pt>
                <c:pt idx="1">
                  <c:v>1999</c:v>
                </c:pt>
                <c:pt idx="2">
                  <c:v>2000</c:v>
                </c:pt>
                <c:pt idx="3">
                  <c:v>2001</c:v>
                </c:pt>
                <c:pt idx="4">
                  <c:v>2002</c:v>
                </c:pt>
                <c:pt idx="5">
                  <c:v>2003</c:v>
                </c:pt>
                <c:pt idx="6">
                  <c:v>2004</c:v>
                </c:pt>
                <c:pt idx="7">
                  <c:v>2005</c:v>
                </c:pt>
                <c:pt idx="8">
                  <c:v>2006</c:v>
                </c:pt>
                <c:pt idx="9">
                  <c:v>2007</c:v>
                </c:pt>
                <c:pt idx="10">
                  <c:v>2008</c:v>
                </c:pt>
                <c:pt idx="11">
                  <c:v>2009</c:v>
                </c:pt>
                <c:pt idx="12">
                  <c:v>2010</c:v>
                </c:pt>
                <c:pt idx="13">
                  <c:v>2011</c:v>
                </c:pt>
                <c:pt idx="14">
                  <c:v>2012</c:v>
                </c:pt>
                <c:pt idx="15">
                  <c:v>2013</c:v>
                </c:pt>
                <c:pt idx="16">
                  <c:v>2014</c:v>
                </c:pt>
                <c:pt idx="17">
                  <c:v>2015</c:v>
                </c:pt>
                <c:pt idx="18">
                  <c:v>2016</c:v>
                </c:pt>
                <c:pt idx="19">
                  <c:v>2017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1415.5</c:v>
                </c:pt>
                <c:pt idx="1">
                  <c:v>1350.7</c:v>
                </c:pt>
                <c:pt idx="2">
                  <c:v>1393.4</c:v>
                </c:pt>
                <c:pt idx="3">
                  <c:v>1422.6</c:v>
                </c:pt>
                <c:pt idx="4">
                  <c:v>1329.3</c:v>
                </c:pt>
                <c:pt idx="5">
                  <c:v>1359.5</c:v>
                </c:pt>
                <c:pt idx="6">
                  <c:v>1360.9</c:v>
                </c:pt>
                <c:pt idx="7">
                  <c:v>1376.1</c:v>
                </c:pt>
                <c:pt idx="8">
                  <c:v>1378.9</c:v>
                </c:pt>
                <c:pt idx="9">
                  <c:v>1353.1</c:v>
                </c:pt>
                <c:pt idx="10">
                  <c:v>1357.2</c:v>
                </c:pt>
                <c:pt idx="11">
                  <c:v>1407.6</c:v>
                </c:pt>
                <c:pt idx="12">
                  <c:v>1304.2</c:v>
                </c:pt>
                <c:pt idx="13">
                  <c:v>1361.5</c:v>
                </c:pt>
                <c:pt idx="14">
                  <c:v>1361.2</c:v>
                </c:pt>
                <c:pt idx="15">
                  <c:v>1396.7</c:v>
                </c:pt>
                <c:pt idx="16">
                  <c:v>1372.8</c:v>
                </c:pt>
                <c:pt idx="17">
                  <c:v>1422.1</c:v>
                </c:pt>
                <c:pt idx="18">
                  <c:v>1388.9</c:v>
                </c:pt>
                <c:pt idx="19">
                  <c:v>1463.7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8E5-45BE-BEDC-94EA608C49B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Calgary</c:v>
                </c:pt>
              </c:strCache>
            </c:strRef>
          </c:tx>
          <c:spPr>
            <a:ln w="28575" cap="flat">
              <a:solidFill>
                <a:srgbClr val="132A45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1998</c:v>
                </c:pt>
                <c:pt idx="1">
                  <c:v>1999</c:v>
                </c:pt>
                <c:pt idx="2">
                  <c:v>2000</c:v>
                </c:pt>
                <c:pt idx="3">
                  <c:v>2001</c:v>
                </c:pt>
                <c:pt idx="4">
                  <c:v>2002</c:v>
                </c:pt>
                <c:pt idx="5">
                  <c:v>2003</c:v>
                </c:pt>
                <c:pt idx="6">
                  <c:v>2004</c:v>
                </c:pt>
                <c:pt idx="7">
                  <c:v>2005</c:v>
                </c:pt>
                <c:pt idx="8">
                  <c:v>2006</c:v>
                </c:pt>
                <c:pt idx="9">
                  <c:v>2007</c:v>
                </c:pt>
                <c:pt idx="10">
                  <c:v>2008</c:v>
                </c:pt>
                <c:pt idx="11">
                  <c:v>2009</c:v>
                </c:pt>
                <c:pt idx="12">
                  <c:v>2010</c:v>
                </c:pt>
                <c:pt idx="13">
                  <c:v>2011</c:v>
                </c:pt>
                <c:pt idx="14">
                  <c:v>2012</c:v>
                </c:pt>
                <c:pt idx="15">
                  <c:v>2013</c:v>
                </c:pt>
                <c:pt idx="16">
                  <c:v>2014</c:v>
                </c:pt>
                <c:pt idx="17">
                  <c:v>2015</c:v>
                </c:pt>
                <c:pt idx="18">
                  <c:v>2016</c:v>
                </c:pt>
                <c:pt idx="19">
                  <c:v>2017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1337.9</c:v>
                </c:pt>
                <c:pt idx="1">
                  <c:v>1279.8</c:v>
                </c:pt>
                <c:pt idx="2">
                  <c:v>1353.2</c:v>
                </c:pt>
                <c:pt idx="3">
                  <c:v>1364.1</c:v>
                </c:pt>
                <c:pt idx="4">
                  <c:v>1295.3</c:v>
                </c:pt>
                <c:pt idx="5">
                  <c:v>1321.9</c:v>
                </c:pt>
                <c:pt idx="6">
                  <c:v>1270.8</c:v>
                </c:pt>
                <c:pt idx="7">
                  <c:v>1284.8</c:v>
                </c:pt>
                <c:pt idx="8">
                  <c:v>1316.5</c:v>
                </c:pt>
                <c:pt idx="9">
                  <c:v>1297.9000000000001</c:v>
                </c:pt>
                <c:pt idx="10">
                  <c:v>1305</c:v>
                </c:pt>
                <c:pt idx="11">
                  <c:v>1349.4</c:v>
                </c:pt>
                <c:pt idx="12">
                  <c:v>1243.2</c:v>
                </c:pt>
                <c:pt idx="13">
                  <c:v>1313.3</c:v>
                </c:pt>
                <c:pt idx="14">
                  <c:v>1294.5</c:v>
                </c:pt>
                <c:pt idx="15">
                  <c:v>1320.6</c:v>
                </c:pt>
                <c:pt idx="16">
                  <c:v>1351.8</c:v>
                </c:pt>
                <c:pt idx="17">
                  <c:v>1380.5</c:v>
                </c:pt>
                <c:pt idx="18">
                  <c:v>1341.2</c:v>
                </c:pt>
                <c:pt idx="19">
                  <c:v>1411.2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8E5-45BE-BEDC-94EA608C49B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Edmonton</c:v>
                </c:pt>
              </c:strCache>
            </c:strRef>
          </c:tx>
          <c:spPr>
            <a:ln w="28575" cap="flat">
              <a:solidFill>
                <a:srgbClr val="5B7EA8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1998</c:v>
                </c:pt>
                <c:pt idx="1">
                  <c:v>1999</c:v>
                </c:pt>
                <c:pt idx="2">
                  <c:v>2000</c:v>
                </c:pt>
                <c:pt idx="3">
                  <c:v>2001</c:v>
                </c:pt>
                <c:pt idx="4">
                  <c:v>2002</c:v>
                </c:pt>
                <c:pt idx="5">
                  <c:v>2003</c:v>
                </c:pt>
                <c:pt idx="6">
                  <c:v>2004</c:v>
                </c:pt>
                <c:pt idx="7">
                  <c:v>2005</c:v>
                </c:pt>
                <c:pt idx="8">
                  <c:v>2006</c:v>
                </c:pt>
                <c:pt idx="9">
                  <c:v>2007</c:v>
                </c:pt>
                <c:pt idx="10">
                  <c:v>2008</c:v>
                </c:pt>
                <c:pt idx="11">
                  <c:v>2009</c:v>
                </c:pt>
                <c:pt idx="12">
                  <c:v>2010</c:v>
                </c:pt>
                <c:pt idx="13">
                  <c:v>2011</c:v>
                </c:pt>
                <c:pt idx="14">
                  <c:v>2012</c:v>
                </c:pt>
                <c:pt idx="15">
                  <c:v>2013</c:v>
                </c:pt>
                <c:pt idx="16">
                  <c:v>2014</c:v>
                </c:pt>
                <c:pt idx="17">
                  <c:v>2015</c:v>
                </c:pt>
                <c:pt idx="18">
                  <c:v>2016</c:v>
                </c:pt>
                <c:pt idx="19">
                  <c:v>2017</c:v>
                </c:pt>
              </c:strCache>
            </c: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1265.5</c:v>
                </c:pt>
                <c:pt idx="1">
                  <c:v>1222.5</c:v>
                </c:pt>
                <c:pt idx="2">
                  <c:v>1218</c:v>
                </c:pt>
                <c:pt idx="3">
                  <c:v>1263</c:v>
                </c:pt>
                <c:pt idx="4">
                  <c:v>1225.8</c:v>
                </c:pt>
                <c:pt idx="5">
                  <c:v>1248</c:v>
                </c:pt>
                <c:pt idx="6">
                  <c:v>1209.4000000000001</c:v>
                </c:pt>
                <c:pt idx="7">
                  <c:v>1227.4000000000001</c:v>
                </c:pt>
                <c:pt idx="8">
                  <c:v>1248.4000000000001</c:v>
                </c:pt>
                <c:pt idx="9">
                  <c:v>1221.5</c:v>
                </c:pt>
                <c:pt idx="10">
                  <c:v>1264.0999999999999</c:v>
                </c:pt>
                <c:pt idx="11">
                  <c:v>1275.9000000000001</c:v>
                </c:pt>
                <c:pt idx="12">
                  <c:v>1203.3</c:v>
                </c:pt>
                <c:pt idx="13">
                  <c:v>1251.8</c:v>
                </c:pt>
                <c:pt idx="14">
                  <c:v>1232.0999999999999</c:v>
                </c:pt>
                <c:pt idx="15">
                  <c:v>1264.5999999999999</c:v>
                </c:pt>
                <c:pt idx="16">
                  <c:v>1287.9000000000001</c:v>
                </c:pt>
                <c:pt idx="17">
                  <c:v>1322</c:v>
                </c:pt>
                <c:pt idx="18">
                  <c:v>1266.0999999999999</c:v>
                </c:pt>
                <c:pt idx="19">
                  <c:v>1278.5999999999999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8E5-45BE-BEDC-94EA608C49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8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50"/>
          <c:min val="1100"/>
        </c:scaling>
        <c:delete val="0"/>
        <c:axPos val="l"/>
        <c:majorGridlines>
          <c:spPr>
            <a:ln w="6350" cap="flat">
              <a:solidFill>
                <a:srgbClr val="D8DCE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6B7280"/>
                    </a:solidFill>
                    <a:latin typeface="Arial"/>
                  </a:rPr>
                  <a:t>Annual GHI (kWh/m²)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3239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AF189-B89B-1322-314D-9F2E0FE2E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9EE1DB-E5E2-341E-1890-96E797380B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900BE2-8371-EBAB-29B6-CF5F3BA255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A8EDDC-2EEE-EC47-C79F-B666FDE249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035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280160"/>
            <a:ext cx="4754880" cy="4754880"/>
          </a:xfrm>
          <a:prstGeom prst="ellipse">
            <a:avLst/>
          </a:prstGeom>
          <a:solidFill>
            <a:srgbClr val="132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966960" y="-731520"/>
            <a:ext cx="3657600" cy="36576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033504" y="960120"/>
            <a:ext cx="146304" cy="914"/>
          </a:xfrm>
          <a:prstGeom prst="line">
            <a:avLst/>
          </a:prstGeom>
          <a:noFill/>
          <a:ln w="254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70133" y="1354533"/>
            <a:ext cx="103453" cy="103453"/>
          </a:xfrm>
          <a:prstGeom prst="line">
            <a:avLst/>
          </a:prstGeom>
          <a:noFill/>
          <a:ln w="254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75720" y="1517904"/>
            <a:ext cx="914" cy="146304"/>
          </a:xfrm>
          <a:prstGeom prst="line">
            <a:avLst/>
          </a:prstGeom>
          <a:noFill/>
          <a:ln w="254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977855" y="1354533"/>
            <a:ext cx="103453" cy="103453"/>
          </a:xfrm>
          <a:prstGeom prst="line">
            <a:avLst/>
          </a:prstGeom>
          <a:noFill/>
          <a:ln w="254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771632" y="960120"/>
            <a:ext cx="146304" cy="914"/>
          </a:xfrm>
          <a:prstGeom prst="line">
            <a:avLst/>
          </a:prstGeom>
          <a:noFill/>
          <a:ln w="254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977855" y="462255"/>
            <a:ext cx="103453" cy="103453"/>
          </a:xfrm>
          <a:prstGeom prst="line">
            <a:avLst/>
          </a:prstGeom>
          <a:noFill/>
          <a:ln w="254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475720" y="256032"/>
            <a:ext cx="914" cy="146304"/>
          </a:xfrm>
          <a:prstGeom prst="line">
            <a:avLst/>
          </a:prstGeom>
          <a:noFill/>
          <a:ln w="254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870133" y="462255"/>
            <a:ext cx="103453" cy="103453"/>
          </a:xfrm>
          <a:prstGeom prst="line">
            <a:avLst/>
          </a:prstGeom>
          <a:noFill/>
          <a:ln w="254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972800" y="457200"/>
            <a:ext cx="1005840" cy="1005840"/>
          </a:xfrm>
          <a:prstGeom prst="ellipse">
            <a:avLst/>
          </a:prstGeom>
          <a:solidFill>
            <a:srgbClr val="F5B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SAIT DATA ANALYTICS CAPSTONE  ·  2026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594360" y="182880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Solar Energy Potential</a:t>
            </a:r>
            <a:endParaRPr lang="en-US" sz="460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Across Alberta</a:t>
            </a:r>
            <a:endParaRPr lang="en-US" sz="4600"/>
          </a:p>
        </p:txBody>
      </p:sp>
      <p:sp>
        <p:nvSpPr>
          <p:cNvPr id="15" name="Text 13"/>
          <p:cNvSpPr/>
          <p:nvPr/>
        </p:nvSpPr>
        <p:spPr>
          <a:xfrm>
            <a:off x="640080" y="36118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Framework for the Alberta Utilities Commission</a:t>
            </a:r>
            <a:endParaRPr lang="en-US" sz="1700"/>
          </a:p>
        </p:txBody>
      </p:sp>
      <p:sp>
        <p:nvSpPr>
          <p:cNvPr id="16" name="Shape 14"/>
          <p:cNvSpPr/>
          <p:nvPr/>
        </p:nvSpPr>
        <p:spPr>
          <a:xfrm>
            <a:off x="640080" y="4297680"/>
            <a:ext cx="2147011" cy="384048"/>
          </a:xfrm>
          <a:prstGeom prst="roundRect">
            <a:avLst>
              <a:gd name="adj" fmla="val 50000"/>
            </a:avLst>
          </a:prstGeom>
          <a:solidFill>
            <a:srgbClr val="1E3A5C"/>
          </a:solidFill>
          <a:ln w="9525">
            <a:solidFill>
              <a:srgbClr val="3A5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4297680"/>
            <a:ext cx="21470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CWEEDS 1998–2017</a:t>
            </a:r>
            <a:endParaRPr lang="en-US" sz="970"/>
          </a:p>
        </p:txBody>
      </p:sp>
      <p:sp>
        <p:nvSpPr>
          <p:cNvPr id="18" name="Shape 16"/>
          <p:cNvSpPr/>
          <p:nvPr/>
        </p:nvSpPr>
        <p:spPr>
          <a:xfrm>
            <a:off x="2933395" y="4297680"/>
            <a:ext cx="3434486" cy="384048"/>
          </a:xfrm>
          <a:prstGeom prst="roundRect">
            <a:avLst>
              <a:gd name="adj" fmla="val 50000"/>
            </a:avLst>
          </a:prstGeom>
          <a:solidFill>
            <a:srgbClr val="1E3A5C"/>
          </a:solidFill>
          <a:ln w="9525">
            <a:solidFill>
              <a:srgbClr val="3A5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933395" y="4297680"/>
            <a:ext cx="34344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SAIT Campus Solar 2018–2023</a:t>
            </a:r>
            <a:endParaRPr lang="en-US" sz="970"/>
          </a:p>
        </p:txBody>
      </p:sp>
      <p:sp>
        <p:nvSpPr>
          <p:cNvPr id="20" name="Shape 18"/>
          <p:cNvSpPr/>
          <p:nvPr/>
        </p:nvSpPr>
        <p:spPr>
          <a:xfrm>
            <a:off x="6514186" y="4297680"/>
            <a:ext cx="3902659" cy="384048"/>
          </a:xfrm>
          <a:prstGeom prst="roundRect">
            <a:avLst>
              <a:gd name="adj" fmla="val 50000"/>
            </a:avLst>
          </a:prstGeom>
          <a:solidFill>
            <a:srgbClr val="1E3A5C"/>
          </a:solidFill>
          <a:ln w="9525">
            <a:solidFill>
              <a:srgbClr val="3A5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14186" y="4297680"/>
            <a:ext cx="39026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Python · scikit-learn </a:t>
            </a:r>
            <a:endParaRPr lang="en-US" sz="950">
              <a:solidFill>
                <a:srgbClr val="CADCFC"/>
              </a:solidFill>
              <a:ea typeface="Calibri"/>
              <a:cs typeface="Calibri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0563149" y="4297680"/>
            <a:ext cx="1210666" cy="384048"/>
          </a:xfrm>
          <a:prstGeom prst="roundRect">
            <a:avLst>
              <a:gd name="adj" fmla="val 50000"/>
            </a:avLst>
          </a:prstGeom>
          <a:solidFill>
            <a:srgbClr val="1E3A5C"/>
          </a:solidFill>
          <a:ln w="9525">
            <a:solidFill>
              <a:srgbClr val="3A5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563149" y="4297680"/>
            <a:ext cx="12106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970"/>
          </a:p>
        </p:txBody>
      </p:sp>
      <p:sp>
        <p:nvSpPr>
          <p:cNvPr id="24" name="Shape 22"/>
          <p:cNvSpPr/>
          <p:nvPr/>
        </p:nvSpPr>
        <p:spPr>
          <a:xfrm>
            <a:off x="640080" y="5074920"/>
            <a:ext cx="10881360" cy="0"/>
          </a:xfrm>
          <a:prstGeom prst="line">
            <a:avLst/>
          </a:prstGeom>
          <a:noFill/>
          <a:ln w="12700">
            <a:solidFill>
              <a:srgbClr val="2A46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5257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</a:t>
            </a:r>
            <a:r>
              <a:rPr lang="en-US" sz="150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Abiola Abosede Abioye, Prutha Chokshi, Samuel Chidubem </a:t>
            </a:r>
            <a:r>
              <a:rPr lang="en-US" sz="1500" err="1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Aduaka</a:t>
            </a:r>
            <a:endParaRPr lang="en-US" sz="1500">
              <a:solidFill>
                <a:srgbClr val="9FB0C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50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Client: Alberta Utilities Commission (AUC)</a:t>
            </a:r>
            <a:endParaRPr lang="en-US" sz="1500"/>
          </a:p>
        </p:txBody>
      </p:sp>
      <p:sp>
        <p:nvSpPr>
          <p:cNvPr id="26" name="Text 24"/>
          <p:cNvSpPr/>
          <p:nvPr/>
        </p:nvSpPr>
        <p:spPr>
          <a:xfrm>
            <a:off x="64008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6E8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at the SAIT Capstone Showcase</a:t>
            </a:r>
            <a:endParaRPr lang="en-US" sz="10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Gap Does the AUC Face Today?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166360" cy="4933238"/>
          </a:xfrm>
          <a:prstGeom prst="roundRect">
            <a:avLst>
              <a:gd name="adj" fmla="val 1553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737360"/>
            <a:ext cx="457200" cy="457200"/>
          </a:xfrm>
          <a:prstGeom prst="ellipse">
            <a:avLst/>
          </a:prstGeom>
          <a:solidFill>
            <a:srgbClr val="132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1463040" y="17190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State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4526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35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Alberta holds some of Canada's strongest solar resources yet the AUC and municipalities base solar energy decisions on national averages, not the 20-year local climate records that already exist</a:t>
            </a:r>
            <a:endParaRPr lang="en-US" sz="1350"/>
          </a:p>
        </p:txBody>
      </p:sp>
      <p:sp>
        <p:nvSpPr>
          <p:cNvPr id="9" name="Shape 7"/>
          <p:cNvSpPr/>
          <p:nvPr/>
        </p:nvSpPr>
        <p:spPr>
          <a:xfrm>
            <a:off x="868680" y="3685032"/>
            <a:ext cx="109728" cy="109728"/>
          </a:xfrm>
          <a:prstGeom prst="ellipse">
            <a:avLst/>
          </a:prstGeom>
          <a:solidFill>
            <a:srgbClr val="EF6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357530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capacity planning</a:t>
            </a:r>
            <a:endParaRPr lang="en-US" sz="1250"/>
          </a:p>
        </p:txBody>
      </p:sp>
      <p:sp>
        <p:nvSpPr>
          <p:cNvPr id="11" name="Text 9"/>
          <p:cNvSpPr/>
          <p:nvPr/>
        </p:nvSpPr>
        <p:spPr>
          <a:xfrm>
            <a:off x="1097280" y="383133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AUC cannot accurately model distributed solar contributions without city-level yield predictions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868680" y="4343400"/>
            <a:ext cx="109728" cy="109728"/>
          </a:xfrm>
          <a:prstGeom prst="ellipse">
            <a:avLst/>
          </a:prstGeom>
          <a:solidFill>
            <a:srgbClr val="EF6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423367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Micro-generation policy</a:t>
            </a:r>
            <a:endParaRPr lang="en-US" sz="1250"/>
          </a:p>
        </p:txBody>
      </p:sp>
      <p:sp>
        <p:nvSpPr>
          <p:cNvPr id="14" name="Text 12"/>
          <p:cNvSpPr/>
          <p:nvPr/>
        </p:nvSpPr>
        <p:spPr>
          <a:xfrm>
            <a:off x="1097280" y="448970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fair interconnection rates requires knowing how much solar each Alberta cities generates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868680" y="5001768"/>
            <a:ext cx="109728" cy="109728"/>
          </a:xfrm>
          <a:prstGeom prst="ellipse">
            <a:avLst/>
          </a:prstGeom>
          <a:solidFill>
            <a:srgbClr val="EF6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97280" y="48920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adoption targets</a:t>
            </a:r>
            <a:endParaRPr lang="en-US" sz="1250"/>
          </a:p>
        </p:txBody>
      </p:sp>
      <p:sp>
        <p:nvSpPr>
          <p:cNvPr id="17" name="Text 15"/>
          <p:cNvSpPr/>
          <p:nvPr/>
        </p:nvSpPr>
        <p:spPr>
          <a:xfrm>
            <a:off x="1097280" y="514807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National-average data overstates potential in northern cities and understates it in southern ones</a:t>
            </a:r>
            <a:endParaRPr lang="en-US" sz="1050"/>
          </a:p>
        </p:txBody>
      </p:sp>
      <p:sp>
        <p:nvSpPr>
          <p:cNvPr id="18" name="Shape 16"/>
          <p:cNvSpPr/>
          <p:nvPr/>
        </p:nvSpPr>
        <p:spPr>
          <a:xfrm>
            <a:off x="868680" y="5660136"/>
            <a:ext cx="109728" cy="109728"/>
          </a:xfrm>
          <a:prstGeom prst="ellipse">
            <a:avLst/>
          </a:prstGeom>
          <a:solidFill>
            <a:srgbClr val="EF6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97280" y="555040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guidance</a:t>
            </a:r>
            <a:endParaRPr lang="en-US" sz="1250"/>
          </a:p>
        </p:txBody>
      </p:sp>
      <p:sp>
        <p:nvSpPr>
          <p:cNvPr id="20" name="Text 18"/>
          <p:cNvSpPr/>
          <p:nvPr/>
        </p:nvSpPr>
        <p:spPr>
          <a:xfrm>
            <a:off x="1097280" y="58064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installers need location-specific tilt and sizing data the AUC cannot currently provide</a:t>
            </a:r>
            <a:endParaRPr lang="en-US" sz="1050"/>
          </a:p>
        </p:txBody>
      </p:sp>
      <p:sp>
        <p:nvSpPr>
          <p:cNvPr id="21" name="Shape 19"/>
          <p:cNvSpPr/>
          <p:nvPr/>
        </p:nvSpPr>
        <p:spPr>
          <a:xfrm>
            <a:off x="5897880" y="1417320"/>
            <a:ext cx="5742432" cy="4846320"/>
          </a:xfrm>
          <a:prstGeom prst="roundRect">
            <a:avLst>
              <a:gd name="adj" fmla="val 1553"/>
            </a:avLst>
          </a:prstGeom>
          <a:solidFill>
            <a:srgbClr val="132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17920" y="1737360"/>
            <a:ext cx="457200" cy="457200"/>
          </a:xfrm>
          <a:prstGeom prst="ellipse">
            <a:avLst/>
          </a:prstGeom>
          <a:solidFill>
            <a:srgbClr val="F5B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179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/>
          </a:p>
        </p:txBody>
      </p:sp>
      <p:sp>
        <p:nvSpPr>
          <p:cNvPr id="24" name="Text 22"/>
          <p:cNvSpPr/>
          <p:nvPr/>
        </p:nvSpPr>
        <p:spPr>
          <a:xfrm>
            <a:off x="6812280" y="17190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1800"/>
          </a:p>
        </p:txBody>
      </p:sp>
      <p:sp>
        <p:nvSpPr>
          <p:cNvPr id="25" name="Text 23"/>
          <p:cNvSpPr/>
          <p:nvPr/>
        </p:nvSpPr>
        <p:spPr>
          <a:xfrm>
            <a:off x="6217920" y="219456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solar analytics pipeline delivering six outputs tailored to AUC planning needs:</a:t>
            </a:r>
            <a:endParaRPr lang="en-US" sz="1200"/>
          </a:p>
        </p:txBody>
      </p:sp>
      <p:sp>
        <p:nvSpPr>
          <p:cNvPr id="26" name="Shape 24"/>
          <p:cNvSpPr/>
          <p:nvPr/>
        </p:nvSpPr>
        <p:spPr>
          <a:xfrm>
            <a:off x="6217920" y="2788920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E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17920" y="27889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6766560" y="273405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Prediction Model</a:t>
            </a:r>
            <a:endParaRPr lang="en-US" sz="1150"/>
          </a:p>
        </p:txBody>
      </p:sp>
      <p:sp>
        <p:nvSpPr>
          <p:cNvPr id="29" name="Text 27"/>
          <p:cNvSpPr/>
          <p:nvPr/>
        </p:nvSpPr>
        <p:spPr>
          <a:xfrm>
            <a:off x="6766560" y="31089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R² = 0.917</a:t>
            </a:r>
            <a:endParaRPr lang="en-US" sz="950"/>
          </a:p>
        </p:txBody>
      </p:sp>
      <p:sp>
        <p:nvSpPr>
          <p:cNvPr id="30" name="Shape 28"/>
          <p:cNvSpPr/>
          <p:nvPr/>
        </p:nvSpPr>
        <p:spPr>
          <a:xfrm>
            <a:off x="9052560" y="2788920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E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052560" y="27889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100"/>
          </a:p>
        </p:txBody>
      </p:sp>
      <p:sp>
        <p:nvSpPr>
          <p:cNvPr id="32" name="Text 30"/>
          <p:cNvSpPr/>
          <p:nvPr/>
        </p:nvSpPr>
        <p:spPr>
          <a:xfrm>
            <a:off x="9601200" y="273405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Comparison Dashboard</a:t>
            </a:r>
            <a:endParaRPr lang="en-US" sz="1150"/>
          </a:p>
        </p:txBody>
      </p:sp>
      <p:sp>
        <p:nvSpPr>
          <p:cNvPr id="33" name="Text 31"/>
          <p:cNvSpPr/>
          <p:nvPr/>
        </p:nvSpPr>
        <p:spPr>
          <a:xfrm>
            <a:off x="9601200" y="31089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>
                <a:solidFill>
                  <a:srgbClr val="9FB0C4"/>
                </a:solidFill>
                <a:latin typeface="Calibri"/>
                <a:ea typeface="Calibri"/>
                <a:cs typeface="Calibri"/>
              </a:rPr>
              <a:t>Power BI for all 4 cities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217920" y="3867912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E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217920" y="38679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1100"/>
          </a:p>
        </p:txBody>
      </p:sp>
      <p:sp>
        <p:nvSpPr>
          <p:cNvPr id="36" name="Text 34"/>
          <p:cNvSpPr/>
          <p:nvPr/>
        </p:nvSpPr>
        <p:spPr>
          <a:xfrm>
            <a:off x="6766560" y="381304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Optimization Report</a:t>
            </a:r>
            <a:endParaRPr lang="en-US" sz="1150"/>
          </a:p>
        </p:txBody>
      </p:sp>
      <p:sp>
        <p:nvSpPr>
          <p:cNvPr id="37" name="Text 35"/>
          <p:cNvSpPr/>
          <p:nvPr/>
        </p:nvSpPr>
        <p:spPr>
          <a:xfrm>
            <a:off x="6766560" y="41879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Tilt angles + payback tables</a:t>
            </a:r>
            <a:endParaRPr lang="en-US" sz="950"/>
          </a:p>
        </p:txBody>
      </p:sp>
      <p:sp>
        <p:nvSpPr>
          <p:cNvPr id="38" name="Shape 36"/>
          <p:cNvSpPr/>
          <p:nvPr/>
        </p:nvSpPr>
        <p:spPr>
          <a:xfrm>
            <a:off x="9052560" y="3867912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E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052560" y="38679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1100"/>
          </a:p>
        </p:txBody>
      </p:sp>
      <p:sp>
        <p:nvSpPr>
          <p:cNvPr id="40" name="Text 38"/>
          <p:cNvSpPr/>
          <p:nvPr/>
        </p:nvSpPr>
        <p:spPr>
          <a:xfrm>
            <a:off x="9601200" y="381304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Heatmaps</a:t>
            </a:r>
            <a:endParaRPr lang="en-US" sz="1150"/>
          </a:p>
        </p:txBody>
      </p:sp>
      <p:sp>
        <p:nvSpPr>
          <p:cNvPr id="41" name="Text 39"/>
          <p:cNvSpPr/>
          <p:nvPr/>
        </p:nvSpPr>
        <p:spPr>
          <a:xfrm>
            <a:off x="9601200" y="41879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GHI across 20 years</a:t>
            </a:r>
            <a:endParaRPr lang="en-US" sz="950"/>
          </a:p>
        </p:txBody>
      </p:sp>
      <p:sp>
        <p:nvSpPr>
          <p:cNvPr id="42" name="Shape 40"/>
          <p:cNvSpPr/>
          <p:nvPr/>
        </p:nvSpPr>
        <p:spPr>
          <a:xfrm>
            <a:off x="6217920" y="4946904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E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217920" y="494690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</a:t>
            </a:r>
            <a:endParaRPr lang="en-US" sz="1100"/>
          </a:p>
        </p:txBody>
      </p:sp>
      <p:sp>
        <p:nvSpPr>
          <p:cNvPr id="44" name="Text 42"/>
          <p:cNvSpPr/>
          <p:nvPr/>
        </p:nvSpPr>
        <p:spPr>
          <a:xfrm>
            <a:off x="6766560" y="48920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Trend Analysis</a:t>
            </a:r>
            <a:endParaRPr lang="en-US" sz="1150"/>
          </a:p>
        </p:txBody>
      </p:sp>
      <p:sp>
        <p:nvSpPr>
          <p:cNvPr id="45" name="Text 43"/>
          <p:cNvSpPr/>
          <p:nvPr/>
        </p:nvSpPr>
        <p:spPr>
          <a:xfrm>
            <a:off x="6766560" y="526694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Mann-Kendall significance test</a:t>
            </a:r>
            <a:endParaRPr lang="en-US" sz="950"/>
          </a:p>
        </p:txBody>
      </p:sp>
      <p:sp>
        <p:nvSpPr>
          <p:cNvPr id="46" name="Shape 44"/>
          <p:cNvSpPr/>
          <p:nvPr/>
        </p:nvSpPr>
        <p:spPr>
          <a:xfrm>
            <a:off x="9052560" y="4946904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E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9052560" y="494690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D6</a:t>
            </a:r>
            <a:endParaRPr lang="en-US" sz="1100"/>
          </a:p>
        </p:txBody>
      </p:sp>
      <p:sp>
        <p:nvSpPr>
          <p:cNvPr id="48" name="Text 46"/>
          <p:cNvSpPr/>
          <p:nvPr/>
        </p:nvSpPr>
        <p:spPr>
          <a:xfrm>
            <a:off x="9601200" y="48920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SAIT Real-World Validation</a:t>
            </a:r>
            <a:endParaRPr lang="en-US" sz="1150"/>
          </a:p>
        </p:txBody>
      </p:sp>
      <p:sp>
        <p:nvSpPr>
          <p:cNvPr id="49" name="Text 47"/>
          <p:cNvSpPr/>
          <p:nvPr/>
        </p:nvSpPr>
        <p:spPr>
          <a:xfrm>
            <a:off x="9601200" y="526694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correlation r = 0.97</a:t>
            </a:r>
            <a:endParaRPr lang="en-US" sz="950"/>
          </a:p>
        </p:txBody>
      </p:sp>
      <p:sp>
        <p:nvSpPr>
          <p:cNvPr id="50" name="Text 48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Energy Potential Analysis Across Alberta  |  SAIT Data Analytics Capstone 2026  |  Group 3</a:t>
            </a:r>
            <a:endParaRPr lang="en-US" sz="850"/>
          </a:p>
        </p:txBody>
      </p:sp>
      <p:sp>
        <p:nvSpPr>
          <p:cNvPr id="51" name="Text 49"/>
          <p:cNvSpPr/>
          <p:nvPr/>
        </p:nvSpPr>
        <p:spPr>
          <a:xfrm>
            <a:off x="10972800" y="65471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11</a:t>
            </a:r>
            <a:endParaRPr lang="en-US" sz="8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Datasets · Four Cities · Six Deliverables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246120" cy="420624"/>
          </a:xfrm>
          <a:prstGeom prst="roundRect">
            <a:avLst>
              <a:gd name="adj" fmla="val 17391"/>
            </a:avLst>
          </a:prstGeom>
          <a:solidFill>
            <a:srgbClr val="132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246120" cy="146304"/>
          </a:xfrm>
          <a:prstGeom prst="rect">
            <a:avLst/>
          </a:prstGeom>
          <a:solidFill>
            <a:srgbClr val="132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CWEEDS Dataset</a:t>
            </a:r>
            <a:endParaRPr lang="en-US" sz="1350"/>
          </a:p>
        </p:txBody>
      </p:sp>
      <p:sp>
        <p:nvSpPr>
          <p:cNvPr id="8" name="Text 6"/>
          <p:cNvSpPr/>
          <p:nvPr/>
        </p:nvSpPr>
        <p:spPr>
          <a:xfrm>
            <a:off x="685800" y="197510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1920240" y="197510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1998–2017 (20 years)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685800" y="232257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1920240" y="232257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701,280 hourly</a:t>
            </a:r>
            <a:endParaRPr lang="en-US" sz="1050"/>
          </a:p>
        </p:txBody>
      </p:sp>
      <p:sp>
        <p:nvSpPr>
          <p:cNvPr id="12" name="Text 10"/>
          <p:cNvSpPr/>
          <p:nvPr/>
        </p:nvSpPr>
        <p:spPr>
          <a:xfrm>
            <a:off x="685800" y="267004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1920240" y="267004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· DNI · DHI · Temp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685800" y="301752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1920240" y="301752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WY3 fixed-width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3977640" y="1417320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977640" y="1417320"/>
            <a:ext cx="3246120" cy="420624"/>
          </a:xfrm>
          <a:prstGeom prst="roundRect">
            <a:avLst>
              <a:gd name="adj" fmla="val 17391"/>
            </a:avLst>
          </a:prstGeom>
          <a:solidFill>
            <a:srgbClr val="132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977640" y="1691640"/>
            <a:ext cx="3246120" cy="146304"/>
          </a:xfrm>
          <a:prstGeom prst="rect">
            <a:avLst/>
          </a:prstGeom>
          <a:solidFill>
            <a:srgbClr val="132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0" y="141732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SAIT Campus Data</a:t>
            </a:r>
            <a:endParaRPr lang="en-US" sz="1350"/>
          </a:p>
        </p:txBody>
      </p:sp>
      <p:sp>
        <p:nvSpPr>
          <p:cNvPr id="20" name="Text 18"/>
          <p:cNvSpPr/>
          <p:nvPr/>
        </p:nvSpPr>
        <p:spPr>
          <a:xfrm>
            <a:off x="4114800" y="197510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5349240" y="197510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2018 – Sep 2023</a:t>
            </a:r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4114800" y="232257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5349240" y="232257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13,423 quality hours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4114800" y="267004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5349240" y="267004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Carport + Rooftop PV</a:t>
            </a:r>
            <a:endParaRPr lang="en-US" sz="1050"/>
          </a:p>
        </p:txBody>
      </p:sp>
      <p:sp>
        <p:nvSpPr>
          <p:cNvPr id="26" name="Text 24"/>
          <p:cNvSpPr/>
          <p:nvPr/>
        </p:nvSpPr>
        <p:spPr>
          <a:xfrm>
            <a:off x="4114800" y="301752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1000"/>
          </a:p>
        </p:txBody>
      </p:sp>
      <p:sp>
        <p:nvSpPr>
          <p:cNvPr id="27" name="Text 25"/>
          <p:cNvSpPr/>
          <p:nvPr/>
        </p:nvSpPr>
        <p:spPr>
          <a:xfrm>
            <a:off x="5349240" y="301752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validation</a:t>
            </a:r>
            <a:endParaRPr lang="en-US" sz="1050"/>
          </a:p>
        </p:txBody>
      </p:sp>
      <p:sp>
        <p:nvSpPr>
          <p:cNvPr id="28" name="Text 26"/>
          <p:cNvSpPr/>
          <p:nvPr/>
        </p:nvSpPr>
        <p:spPr>
          <a:xfrm>
            <a:off x="76352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Alberta Cities — North to South</a:t>
            </a:r>
            <a:endParaRPr lang="en-US" sz="1250"/>
          </a:p>
        </p:txBody>
      </p:sp>
      <p:sp>
        <p:nvSpPr>
          <p:cNvPr id="29" name="Shape 27"/>
          <p:cNvSpPr/>
          <p:nvPr/>
        </p:nvSpPr>
        <p:spPr>
          <a:xfrm>
            <a:off x="7635240" y="1755648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FBCF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818120" y="175564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Edmonton</a:t>
            </a:r>
            <a:endParaRPr lang="en-US" sz="1250"/>
          </a:p>
        </p:txBody>
      </p:sp>
      <p:sp>
        <p:nvSpPr>
          <p:cNvPr id="31" name="Text 29"/>
          <p:cNvSpPr/>
          <p:nvPr/>
        </p:nvSpPr>
        <p:spPr>
          <a:xfrm>
            <a:off x="9601200" y="1755648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53.3°N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10424160" y="175564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1,537 kWh/m²</a:t>
            </a:r>
            <a:endParaRPr lang="en-US" sz="1200"/>
          </a:p>
        </p:txBody>
      </p:sp>
      <p:sp>
        <p:nvSpPr>
          <p:cNvPr id="33" name="Shape 31"/>
          <p:cNvSpPr/>
          <p:nvPr/>
        </p:nvSpPr>
        <p:spPr>
          <a:xfrm>
            <a:off x="7635240" y="2414016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F8B9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818120" y="241401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Calgary</a:t>
            </a:r>
            <a:endParaRPr lang="en-US" sz="1250"/>
          </a:p>
        </p:txBody>
      </p:sp>
      <p:sp>
        <p:nvSpPr>
          <p:cNvPr id="35" name="Text 33"/>
          <p:cNvSpPr/>
          <p:nvPr/>
        </p:nvSpPr>
        <p:spPr>
          <a:xfrm>
            <a:off x="9601200" y="2414016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51.1°N</a:t>
            </a:r>
            <a:endParaRPr lang="en-US" sz="1000"/>
          </a:p>
        </p:txBody>
      </p:sp>
      <p:sp>
        <p:nvSpPr>
          <p:cNvPr id="36" name="Text 34"/>
          <p:cNvSpPr/>
          <p:nvPr/>
        </p:nvSpPr>
        <p:spPr>
          <a:xfrm>
            <a:off x="10424160" y="2414016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1,625 kWh/m²</a:t>
            </a:r>
            <a:endParaRPr lang="en-US" sz="1200"/>
          </a:p>
        </p:txBody>
      </p:sp>
      <p:sp>
        <p:nvSpPr>
          <p:cNvPr id="37" name="Shape 35"/>
          <p:cNvSpPr/>
          <p:nvPr/>
        </p:nvSpPr>
        <p:spPr>
          <a:xfrm>
            <a:off x="7635240" y="3072384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F39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818120" y="307238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Hat</a:t>
            </a:r>
            <a:endParaRPr lang="en-US" sz="1250"/>
          </a:p>
        </p:txBody>
      </p:sp>
      <p:sp>
        <p:nvSpPr>
          <p:cNvPr id="39" name="Text 37"/>
          <p:cNvSpPr/>
          <p:nvPr/>
        </p:nvSpPr>
        <p:spPr>
          <a:xfrm>
            <a:off x="9601200" y="3072384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FF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50.0°N</a:t>
            </a:r>
            <a:endParaRPr lang="en-US" sz="1000"/>
          </a:p>
        </p:txBody>
      </p:sp>
      <p:sp>
        <p:nvSpPr>
          <p:cNvPr id="40" name="Text 38"/>
          <p:cNvSpPr/>
          <p:nvPr/>
        </p:nvSpPr>
        <p:spPr>
          <a:xfrm>
            <a:off x="10424160" y="3072384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1,659 kWh/m²</a:t>
            </a:r>
            <a:endParaRPr lang="en-US" sz="1200"/>
          </a:p>
        </p:txBody>
      </p:sp>
      <p:sp>
        <p:nvSpPr>
          <p:cNvPr id="41" name="Shape 39"/>
          <p:cNvSpPr/>
          <p:nvPr/>
        </p:nvSpPr>
        <p:spPr>
          <a:xfrm>
            <a:off x="7635240" y="3730752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EF6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818120" y="373075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Lethbridge</a:t>
            </a:r>
            <a:endParaRPr lang="en-US" sz="1250"/>
          </a:p>
        </p:txBody>
      </p:sp>
      <p:sp>
        <p:nvSpPr>
          <p:cNvPr id="43" name="Text 41"/>
          <p:cNvSpPr/>
          <p:nvPr/>
        </p:nvSpPr>
        <p:spPr>
          <a:xfrm>
            <a:off x="9601200" y="3730752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FF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49.7°N</a:t>
            </a:r>
            <a:endParaRPr lang="en-US" sz="1000"/>
          </a:p>
        </p:txBody>
      </p:sp>
      <p:sp>
        <p:nvSpPr>
          <p:cNvPr id="44" name="Text 42"/>
          <p:cNvSpPr/>
          <p:nvPr/>
        </p:nvSpPr>
        <p:spPr>
          <a:xfrm>
            <a:off x="10424160" y="373075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1,688 kWh/m²</a:t>
            </a:r>
            <a:endParaRPr lang="en-US" sz="1200"/>
          </a:p>
        </p:txBody>
      </p:sp>
      <p:sp>
        <p:nvSpPr>
          <p:cNvPr id="45" name="Text 43"/>
          <p:cNvSpPr/>
          <p:nvPr/>
        </p:nvSpPr>
        <p:spPr>
          <a:xfrm>
            <a:off x="7635240" y="44074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POA yield shown; south-to-north latitude gradient drives the difference.</a:t>
            </a:r>
            <a:endParaRPr lang="en-US" sz="900"/>
          </a:p>
        </p:txBody>
      </p:sp>
      <p:sp>
        <p:nvSpPr>
          <p:cNvPr id="46" name="Text 44"/>
          <p:cNvSpPr/>
          <p:nvPr/>
        </p:nvSpPr>
        <p:spPr>
          <a:xfrm>
            <a:off x="54864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Pipeline</a:t>
            </a:r>
            <a:endParaRPr lang="en-US" sz="1250"/>
          </a:p>
        </p:txBody>
      </p:sp>
      <p:sp>
        <p:nvSpPr>
          <p:cNvPr id="47" name="Shape 45"/>
          <p:cNvSpPr/>
          <p:nvPr/>
        </p:nvSpPr>
        <p:spPr>
          <a:xfrm>
            <a:off x="548640" y="3977640"/>
            <a:ext cx="1060704" cy="868680"/>
          </a:xfrm>
          <a:prstGeom prst="roundRect">
            <a:avLst>
              <a:gd name="adj" fmla="val 7368"/>
            </a:avLst>
          </a:prstGeom>
          <a:solidFill>
            <a:srgbClr val="132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48640" y="3977640"/>
            <a:ext cx="1060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05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Parse</a:t>
            </a:r>
            <a:endParaRPr lang="en-US" sz="1050"/>
          </a:p>
        </p:txBody>
      </p:sp>
      <p:sp>
        <p:nvSpPr>
          <p:cNvPr id="49" name="Text 47"/>
          <p:cNvSpPr/>
          <p:nvPr/>
        </p:nvSpPr>
        <p:spPr>
          <a:xfrm>
            <a:off x="1609344" y="3977640"/>
            <a:ext cx="1234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/>
          </a:p>
        </p:txBody>
      </p:sp>
      <p:sp>
        <p:nvSpPr>
          <p:cNvPr id="50" name="Shape 48"/>
          <p:cNvSpPr/>
          <p:nvPr/>
        </p:nvSpPr>
        <p:spPr>
          <a:xfrm>
            <a:off x="1732788" y="3977640"/>
            <a:ext cx="1060704" cy="868680"/>
          </a:xfrm>
          <a:prstGeom prst="roundRect">
            <a:avLst>
              <a:gd name="adj" fmla="val 7368"/>
            </a:avLst>
          </a:prstGeom>
          <a:solidFill>
            <a:srgbClr val="1E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732788" y="3977640"/>
            <a:ext cx="1060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05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Feature Eng.</a:t>
            </a:r>
            <a:endParaRPr lang="en-US" sz="1050"/>
          </a:p>
        </p:txBody>
      </p:sp>
      <p:sp>
        <p:nvSpPr>
          <p:cNvPr id="52" name="Text 50"/>
          <p:cNvSpPr/>
          <p:nvPr/>
        </p:nvSpPr>
        <p:spPr>
          <a:xfrm>
            <a:off x="2793492" y="3977640"/>
            <a:ext cx="1234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/>
          </a:p>
        </p:txBody>
      </p:sp>
      <p:sp>
        <p:nvSpPr>
          <p:cNvPr id="53" name="Shape 51"/>
          <p:cNvSpPr/>
          <p:nvPr/>
        </p:nvSpPr>
        <p:spPr>
          <a:xfrm>
            <a:off x="2916936" y="3977640"/>
            <a:ext cx="1060704" cy="868680"/>
          </a:xfrm>
          <a:prstGeom prst="roundRect">
            <a:avLst>
              <a:gd name="adj" fmla="val 7368"/>
            </a:avLst>
          </a:prstGeom>
          <a:solidFill>
            <a:srgbClr val="132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2916936" y="3977640"/>
            <a:ext cx="1060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5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050"/>
          </a:p>
        </p:txBody>
      </p:sp>
      <p:sp>
        <p:nvSpPr>
          <p:cNvPr id="55" name="Text 53"/>
          <p:cNvSpPr/>
          <p:nvPr/>
        </p:nvSpPr>
        <p:spPr>
          <a:xfrm>
            <a:off x="3977640" y="3977640"/>
            <a:ext cx="1234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/>
          </a:p>
        </p:txBody>
      </p:sp>
      <p:sp>
        <p:nvSpPr>
          <p:cNvPr id="56" name="Shape 54"/>
          <p:cNvSpPr/>
          <p:nvPr/>
        </p:nvSpPr>
        <p:spPr>
          <a:xfrm>
            <a:off x="4101084" y="3977640"/>
            <a:ext cx="1060704" cy="868680"/>
          </a:xfrm>
          <a:prstGeom prst="roundRect">
            <a:avLst>
              <a:gd name="adj" fmla="val 7368"/>
            </a:avLst>
          </a:prstGeom>
          <a:solidFill>
            <a:srgbClr val="1E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101084" y="3977640"/>
            <a:ext cx="1060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05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Tilt &amp; Payback</a:t>
            </a:r>
            <a:endParaRPr lang="en-US" sz="1050"/>
          </a:p>
        </p:txBody>
      </p:sp>
      <p:sp>
        <p:nvSpPr>
          <p:cNvPr id="58" name="Text 56"/>
          <p:cNvSpPr/>
          <p:nvPr/>
        </p:nvSpPr>
        <p:spPr>
          <a:xfrm>
            <a:off x="5161788" y="3977640"/>
            <a:ext cx="1234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/>
          </a:p>
        </p:txBody>
      </p:sp>
      <p:sp>
        <p:nvSpPr>
          <p:cNvPr id="59" name="Shape 57"/>
          <p:cNvSpPr/>
          <p:nvPr/>
        </p:nvSpPr>
        <p:spPr>
          <a:xfrm>
            <a:off x="5285232" y="3977640"/>
            <a:ext cx="1060704" cy="868680"/>
          </a:xfrm>
          <a:prstGeom prst="roundRect">
            <a:avLst>
              <a:gd name="adj" fmla="val 7368"/>
            </a:avLst>
          </a:prstGeom>
          <a:solidFill>
            <a:srgbClr val="132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285232" y="3977640"/>
            <a:ext cx="1060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105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50"/>
          </a:p>
        </p:txBody>
      </p:sp>
      <p:sp>
        <p:nvSpPr>
          <p:cNvPr id="61" name="Text 59"/>
          <p:cNvSpPr/>
          <p:nvPr/>
        </p:nvSpPr>
        <p:spPr>
          <a:xfrm>
            <a:off x="6345936" y="3977640"/>
            <a:ext cx="1234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/>
          </a:p>
        </p:txBody>
      </p:sp>
      <p:sp>
        <p:nvSpPr>
          <p:cNvPr id="62" name="Shape 60"/>
          <p:cNvSpPr/>
          <p:nvPr/>
        </p:nvSpPr>
        <p:spPr>
          <a:xfrm>
            <a:off x="6469380" y="3977640"/>
            <a:ext cx="1060704" cy="868680"/>
          </a:xfrm>
          <a:prstGeom prst="roundRect">
            <a:avLst>
              <a:gd name="adj" fmla="val 7368"/>
            </a:avLst>
          </a:prstGeom>
          <a:solidFill>
            <a:srgbClr val="1E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469380" y="3977640"/>
            <a:ext cx="1060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SAIT</a:t>
            </a:r>
            <a:endParaRPr lang="en-US" sz="105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50"/>
          </a:p>
        </p:txBody>
      </p:sp>
      <p:sp>
        <p:nvSpPr>
          <p:cNvPr id="64" name="Shape 62"/>
          <p:cNvSpPr/>
          <p:nvPr/>
        </p:nvSpPr>
        <p:spPr>
          <a:xfrm>
            <a:off x="548640" y="507492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EF3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822960" y="5193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50"/>
          </a:p>
        </p:txBody>
      </p:sp>
      <p:sp>
        <p:nvSpPr>
          <p:cNvPr id="66" name="Text 64"/>
          <p:cNvSpPr/>
          <p:nvPr/>
        </p:nvSpPr>
        <p:spPr>
          <a:xfrm>
            <a:off x="822960" y="546811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20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theoretical-only projects, we combine two datasets, one modelled weather record (CWEEDS) and one real measured generation feed (SAIT campus) validated against each other across a north-to-south city gradient</a:t>
            </a:r>
            <a:endParaRPr lang="en-US" sz="1200"/>
          </a:p>
        </p:txBody>
      </p:sp>
      <p:sp>
        <p:nvSpPr>
          <p:cNvPr id="67" name="Text 65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Energy Potential Analysis Across Alberta  |  SAIT Data Analytics Capstone 2026  |  Group 3</a:t>
            </a:r>
            <a:endParaRPr lang="en-US" sz="850"/>
          </a:p>
        </p:txBody>
      </p:sp>
      <p:sp>
        <p:nvSpPr>
          <p:cNvPr id="68" name="Text 66"/>
          <p:cNvSpPr/>
          <p:nvPr/>
        </p:nvSpPr>
        <p:spPr>
          <a:xfrm>
            <a:off x="10972800" y="65471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8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CWEEDS Variables and SAIT Campus Specifications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CWEEDS Key Variables and Analytical Role</a:t>
            </a:r>
            <a:endParaRPr lang="en-US" sz="130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664474"/>
              </p:ext>
            </p:extLst>
          </p:nvPr>
        </p:nvGraphicFramePr>
        <p:xfrm>
          <a:off x="548640" y="1719072"/>
          <a:ext cx="6949440" cy="3621024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Analysis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>
                          <a:solidFill>
                            <a:srgbClr val="2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Horizontal Irradiance (GHI)</a:t>
                      </a:r>
                      <a:endParaRPr lang="en-US" sz="97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kJ/m² × 0.1</a:t>
                      </a:r>
                      <a:endParaRPr lang="en-US" sz="97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>
                          <a:solidFill>
                            <a:srgbClr val="2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prediction target</a:t>
                      </a:r>
                      <a:endParaRPr lang="en-US" sz="97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>
                          <a:solidFill>
                            <a:srgbClr val="2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Normal Irradiance (DNI)</a:t>
                      </a:r>
                      <a:endParaRPr lang="en-US" sz="97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kJ/m² × 0.1</a:t>
                      </a:r>
                      <a:endParaRPr lang="en-US" sz="97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4303D"/>
                          </a:solidFill>
                          <a:latin typeface="Calibri"/>
                          <a:ea typeface="Calibri"/>
                          <a:cs typeface="Calibri"/>
                        </a:rPr>
                        <a:t>Used for tilt angle optimization</a:t>
                      </a:r>
                      <a:endParaRPr lang="en-US" sz="97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>
                          <a:solidFill>
                            <a:srgbClr val="2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Diffuse Horizontal Irradiance (DHI)</a:t>
                      </a:r>
                      <a:endParaRPr lang="en-US" sz="97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kJ/m² × 0.1</a:t>
                      </a:r>
                      <a:endParaRPr lang="en-US" sz="97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>
                          <a:solidFill>
                            <a:srgbClr val="2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for cloudy-day modelling</a:t>
                      </a:r>
                      <a:endParaRPr lang="en-US" sz="97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>
                          <a:solidFill>
                            <a:srgbClr val="2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 Bulb Temperature</a:t>
                      </a:r>
                      <a:endParaRPr lang="en-US" sz="97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°C × 0.1</a:t>
                      </a:r>
                      <a:endParaRPr lang="en-US" sz="97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>
                          <a:solidFill>
                            <a:srgbClr val="2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Panel efficiency derating (~0.4%/°C &gt; 25°C)</a:t>
                      </a:r>
                      <a:endParaRPr lang="en-US" sz="97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>
                          <a:solidFill>
                            <a:srgbClr val="2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Minutes of Sunshine</a:t>
                      </a:r>
                      <a:endParaRPr lang="en-US" sz="97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6B7280"/>
                          </a:solidFill>
                          <a:latin typeface="Calibri"/>
                          <a:ea typeface="Calibri"/>
                          <a:cs typeface="Calibri"/>
                        </a:rPr>
                        <a:t>0–60/hr.</a:t>
                      </a:r>
                      <a:endParaRPr lang="en-US" sz="97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4303D"/>
                          </a:solidFill>
                          <a:latin typeface="Calibri"/>
                          <a:ea typeface="Calibri"/>
                          <a:cs typeface="Calibri"/>
                        </a:rPr>
                        <a:t>Strongest ML feature - cloud-cover proxy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>
                          <a:solidFill>
                            <a:srgbClr val="2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Dew Point Temperature</a:t>
                      </a:r>
                      <a:endParaRPr lang="en-US" sz="97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°C × 0.1</a:t>
                      </a:r>
                      <a:endParaRPr lang="en-US" sz="97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>
                          <a:solidFill>
                            <a:srgbClr val="2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Humidity / cloud formation proxy</a:t>
                      </a:r>
                      <a:endParaRPr lang="en-US" sz="97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>
                          <a:solidFill>
                            <a:srgbClr val="2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 Speed</a:t>
                      </a:r>
                      <a:endParaRPr lang="en-US" sz="97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m/s × 0.1</a:t>
                      </a:r>
                      <a:endParaRPr lang="en-US" sz="97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>
                          <a:solidFill>
                            <a:srgbClr val="2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Panel cooling and soiling accumulation</a:t>
                      </a:r>
                      <a:endParaRPr lang="en-US" sz="97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>
                          <a:solidFill>
                            <a:srgbClr val="2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 Pressure</a:t>
                      </a:r>
                      <a:endParaRPr lang="en-US" sz="97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 × 10</a:t>
                      </a:r>
                      <a:endParaRPr lang="en-US" sz="97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>
                          <a:solidFill>
                            <a:srgbClr val="2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 mass and surface irradiance</a:t>
                      </a:r>
                      <a:endParaRPr lang="en-US" sz="97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371600"/>
            <a:ext cx="3867912" cy="4736592"/>
          </a:xfrm>
          <a:prstGeom prst="roundRect">
            <a:avLst>
              <a:gd name="adj" fmla="val 1891"/>
            </a:avLst>
          </a:prstGeom>
          <a:solidFill>
            <a:srgbClr val="132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046720" y="153619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SAIT Campus Dataset</a:t>
            </a:r>
            <a:endParaRPr lang="en-US" sz="1500"/>
          </a:p>
        </p:txBody>
      </p:sp>
      <p:sp>
        <p:nvSpPr>
          <p:cNvPr id="8" name="Text 5"/>
          <p:cNvSpPr/>
          <p:nvPr/>
        </p:nvSpPr>
        <p:spPr>
          <a:xfrm>
            <a:off x="8046720" y="192024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850"/>
          </a:p>
        </p:txBody>
      </p:sp>
      <p:sp>
        <p:nvSpPr>
          <p:cNvPr id="9" name="Text 6"/>
          <p:cNvSpPr/>
          <p:nvPr/>
        </p:nvSpPr>
        <p:spPr>
          <a:xfrm>
            <a:off x="8046720" y="20939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SAIT Great Hall Building (GBT)</a:t>
            </a:r>
            <a:endParaRPr lang="en-US" sz="1030"/>
          </a:p>
        </p:txBody>
      </p:sp>
      <p:sp>
        <p:nvSpPr>
          <p:cNvPr id="10" name="Text 7"/>
          <p:cNvSpPr/>
          <p:nvPr/>
        </p:nvSpPr>
        <p:spPr>
          <a:xfrm>
            <a:off x="8046720" y="236372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850"/>
          </a:p>
        </p:txBody>
      </p:sp>
      <p:sp>
        <p:nvSpPr>
          <p:cNvPr id="11" name="Text 8"/>
          <p:cNvSpPr/>
          <p:nvPr/>
        </p:nvSpPr>
        <p:spPr>
          <a:xfrm>
            <a:off x="8046720" y="25374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8, 2018 – Sep 19, 2023</a:t>
            </a:r>
            <a:endParaRPr lang="en-US" sz="1030"/>
          </a:p>
        </p:txBody>
      </p:sp>
      <p:sp>
        <p:nvSpPr>
          <p:cNvPr id="12" name="Text 9"/>
          <p:cNvSpPr/>
          <p:nvPr/>
        </p:nvSpPr>
        <p:spPr>
          <a:xfrm>
            <a:off x="8046720" y="280720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850"/>
          </a:p>
        </p:txBody>
      </p:sp>
      <p:sp>
        <p:nvSpPr>
          <p:cNvPr id="13" name="Text 10"/>
          <p:cNvSpPr/>
          <p:nvPr/>
        </p:nvSpPr>
        <p:spPr>
          <a:xfrm>
            <a:off x="8046720" y="29809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1-min intervals → resampled hourly</a:t>
            </a:r>
            <a:endParaRPr lang="en-US" sz="1030"/>
          </a:p>
        </p:txBody>
      </p:sp>
      <p:sp>
        <p:nvSpPr>
          <p:cNvPr id="14" name="Text 11"/>
          <p:cNvSpPr/>
          <p:nvPr/>
        </p:nvSpPr>
        <p:spPr>
          <a:xfrm>
            <a:off x="8046720" y="325069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850"/>
          </a:p>
        </p:txBody>
      </p:sp>
      <p:sp>
        <p:nvSpPr>
          <p:cNvPr id="15" name="Text 12"/>
          <p:cNvSpPr/>
          <p:nvPr/>
        </p:nvSpPr>
        <p:spPr>
          <a:xfrm>
            <a:off x="8046720" y="34244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Carport Solar + Rooftop Solar</a:t>
            </a:r>
            <a:endParaRPr lang="en-US" sz="1030"/>
          </a:p>
        </p:txBody>
      </p:sp>
      <p:sp>
        <p:nvSpPr>
          <p:cNvPr id="16" name="Text 13"/>
          <p:cNvSpPr/>
          <p:nvPr/>
        </p:nvSpPr>
        <p:spPr>
          <a:xfrm>
            <a:off x="8046720" y="369417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CARPORT</a:t>
            </a:r>
            <a:endParaRPr lang="en-US" sz="850"/>
          </a:p>
        </p:txBody>
      </p:sp>
      <p:sp>
        <p:nvSpPr>
          <p:cNvPr id="17" name="Text 14"/>
          <p:cNvSpPr/>
          <p:nvPr/>
        </p:nvSpPr>
        <p:spPr>
          <a:xfrm>
            <a:off x="8046720" y="38679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~15,391 Wh per reading</a:t>
            </a:r>
            <a:endParaRPr lang="en-US" sz="1030"/>
          </a:p>
        </p:txBody>
      </p:sp>
      <p:sp>
        <p:nvSpPr>
          <p:cNvPr id="18" name="Text 15"/>
          <p:cNvSpPr/>
          <p:nvPr/>
        </p:nvSpPr>
        <p:spPr>
          <a:xfrm>
            <a:off x="8046720" y="413766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ROOFTOP</a:t>
            </a:r>
            <a:endParaRPr lang="en-US" sz="850"/>
          </a:p>
        </p:txBody>
      </p:sp>
      <p:sp>
        <p:nvSpPr>
          <p:cNvPr id="19" name="Text 16"/>
          <p:cNvSpPr/>
          <p:nvPr/>
        </p:nvSpPr>
        <p:spPr>
          <a:xfrm>
            <a:off x="8046720" y="43113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~7,199 Wh per reading</a:t>
            </a:r>
            <a:endParaRPr lang="en-US" sz="1030"/>
          </a:p>
        </p:txBody>
      </p:sp>
      <p:sp>
        <p:nvSpPr>
          <p:cNvPr id="20" name="Text 17"/>
          <p:cNvSpPr/>
          <p:nvPr/>
        </p:nvSpPr>
        <p:spPr>
          <a:xfrm>
            <a:off x="8046720" y="458114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RECORDS</a:t>
            </a:r>
            <a:endParaRPr lang="en-US" sz="850"/>
          </a:p>
        </p:txBody>
      </p:sp>
      <p:sp>
        <p:nvSpPr>
          <p:cNvPr id="21" name="Text 18"/>
          <p:cNvSpPr/>
          <p:nvPr/>
        </p:nvSpPr>
        <p:spPr>
          <a:xfrm>
            <a:off x="8046720" y="47548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13,423 hourly (complete hours only)</a:t>
            </a:r>
            <a:endParaRPr lang="en-US" sz="1030"/>
          </a:p>
        </p:txBody>
      </p:sp>
      <p:sp>
        <p:nvSpPr>
          <p:cNvPr id="22" name="Text 19"/>
          <p:cNvSpPr/>
          <p:nvPr/>
        </p:nvSpPr>
        <p:spPr>
          <a:xfrm>
            <a:off x="8046720" y="502462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GAP</a:t>
            </a:r>
            <a:endParaRPr lang="en-US" sz="850"/>
          </a:p>
        </p:txBody>
      </p:sp>
      <p:sp>
        <p:nvSpPr>
          <p:cNvPr id="23" name="Text 20"/>
          <p:cNvSpPr/>
          <p:nvPr/>
        </p:nvSpPr>
        <p:spPr>
          <a:xfrm>
            <a:off x="8046720" y="51983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2021 and 2022 sensor outages are excluded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8046720" y="546811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W/ CWEEDS</a:t>
            </a:r>
            <a:endParaRPr lang="en-US" sz="850"/>
          </a:p>
        </p:txBody>
      </p:sp>
      <p:sp>
        <p:nvSpPr>
          <p:cNvPr id="25" name="Text 22"/>
          <p:cNvSpPr/>
          <p:nvPr/>
        </p:nvSpPr>
        <p:spPr>
          <a:xfrm>
            <a:off x="8046720" y="56418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None as CWEEDS ends 2017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Energy Potential Analysis Across Alberta  |  SAIT Data Analytics Capstone 2026  |  Group 3</a:t>
            </a:r>
            <a:endParaRPr lang="en-US" sz="850"/>
          </a:p>
        </p:txBody>
      </p:sp>
      <p:sp>
        <p:nvSpPr>
          <p:cNvPr id="27" name="Text 24"/>
          <p:cNvSpPr/>
          <p:nvPr/>
        </p:nvSpPr>
        <p:spPr>
          <a:xfrm>
            <a:off x="10972800" y="65471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8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COMPARISON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9283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Annual Solar Yield — Lethbridge Leads; Edmonton Trails by 9.8%</a:t>
            </a:r>
            <a:endParaRPr lang="en-US" sz="300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667512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417320"/>
            <a:ext cx="4096512" cy="932688"/>
          </a:xfrm>
          <a:prstGeom prst="roundRect">
            <a:avLst>
              <a:gd name="adj" fmla="val 7843"/>
            </a:avLst>
          </a:prstGeom>
          <a:solidFill>
            <a:srgbClr val="FEF3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0" y="14904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1,688</a:t>
            </a:r>
            <a:endParaRPr lang="en-US" sz="2700"/>
          </a:p>
        </p:txBody>
      </p:sp>
      <p:sp>
        <p:nvSpPr>
          <p:cNvPr id="7" name="Text 4"/>
          <p:cNvSpPr/>
          <p:nvPr/>
        </p:nvSpPr>
        <p:spPr>
          <a:xfrm>
            <a:off x="7772400" y="19842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kWh/m²/yr</a:t>
            </a:r>
            <a:endParaRPr lang="en-US" sz="950"/>
          </a:p>
        </p:txBody>
      </p:sp>
      <p:sp>
        <p:nvSpPr>
          <p:cNvPr id="8" name="Text 5"/>
          <p:cNvSpPr/>
          <p:nvPr/>
        </p:nvSpPr>
        <p:spPr>
          <a:xfrm>
            <a:off x="9784080" y="1417320"/>
            <a:ext cx="1783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Lethbridge</a:t>
            </a:r>
            <a:endParaRPr lang="en-US" sz="1150"/>
          </a:p>
        </p:txBody>
      </p:sp>
      <p:sp>
        <p:nvSpPr>
          <p:cNvPr id="9" name="Shape 6"/>
          <p:cNvSpPr/>
          <p:nvPr/>
        </p:nvSpPr>
        <p:spPr>
          <a:xfrm>
            <a:off x="7543800" y="2487168"/>
            <a:ext cx="4096512" cy="932688"/>
          </a:xfrm>
          <a:prstGeom prst="roundRect">
            <a:avLst>
              <a:gd name="adj" fmla="val 7843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0" y="2560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1,537</a:t>
            </a:r>
            <a:endParaRPr lang="en-US" sz="2700"/>
          </a:p>
        </p:txBody>
      </p:sp>
      <p:sp>
        <p:nvSpPr>
          <p:cNvPr id="11" name="Text 8"/>
          <p:cNvSpPr/>
          <p:nvPr/>
        </p:nvSpPr>
        <p:spPr>
          <a:xfrm>
            <a:off x="7772400" y="30540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kWh/m²/yr</a:t>
            </a:r>
            <a:endParaRPr lang="en-US" sz="950"/>
          </a:p>
        </p:txBody>
      </p:sp>
      <p:sp>
        <p:nvSpPr>
          <p:cNvPr id="12" name="Text 9"/>
          <p:cNvSpPr/>
          <p:nvPr/>
        </p:nvSpPr>
        <p:spPr>
          <a:xfrm>
            <a:off x="9784080" y="2487168"/>
            <a:ext cx="1783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Edmonton</a:t>
            </a:r>
            <a:endParaRPr lang="en-US" sz="1150"/>
          </a:p>
        </p:txBody>
      </p:sp>
      <p:sp>
        <p:nvSpPr>
          <p:cNvPr id="13" name="Shape 10"/>
          <p:cNvSpPr/>
          <p:nvPr/>
        </p:nvSpPr>
        <p:spPr>
          <a:xfrm>
            <a:off x="7543800" y="3557016"/>
            <a:ext cx="4096512" cy="932688"/>
          </a:xfrm>
          <a:prstGeom prst="roundRect">
            <a:avLst>
              <a:gd name="adj" fmla="val 7843"/>
            </a:avLst>
          </a:prstGeom>
          <a:solidFill>
            <a:srgbClr val="FD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772400" y="36301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EF6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9.8%</a:t>
            </a:r>
            <a:endParaRPr lang="en-US" sz="2700"/>
          </a:p>
        </p:txBody>
      </p:sp>
      <p:sp>
        <p:nvSpPr>
          <p:cNvPr id="15" name="Text 12"/>
          <p:cNvSpPr/>
          <p:nvPr/>
        </p:nvSpPr>
        <p:spPr>
          <a:xfrm>
            <a:off x="7772400" y="41239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advantage</a:t>
            </a:r>
            <a:endParaRPr lang="en-US" sz="950"/>
          </a:p>
        </p:txBody>
      </p:sp>
      <p:sp>
        <p:nvSpPr>
          <p:cNvPr id="16" name="Text 13"/>
          <p:cNvSpPr/>
          <p:nvPr/>
        </p:nvSpPr>
        <p:spPr>
          <a:xfrm>
            <a:off x="9784080" y="3557016"/>
            <a:ext cx="1783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Lethbridge vs Edmonton</a:t>
            </a:r>
            <a:endParaRPr lang="en-US" sz="1150"/>
          </a:p>
        </p:txBody>
      </p:sp>
      <p:sp>
        <p:nvSpPr>
          <p:cNvPr id="17" name="Shape 14"/>
          <p:cNvSpPr/>
          <p:nvPr/>
        </p:nvSpPr>
        <p:spPr>
          <a:xfrm>
            <a:off x="7543800" y="4626864"/>
            <a:ext cx="4096512" cy="932688"/>
          </a:xfrm>
          <a:prstGeom prst="roundRect">
            <a:avLst>
              <a:gd name="adj" fmla="val 7843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772400" y="470001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~1,200</a:t>
            </a:r>
            <a:endParaRPr lang="en-US" sz="2700"/>
          </a:p>
        </p:txBody>
      </p:sp>
      <p:sp>
        <p:nvSpPr>
          <p:cNvPr id="19" name="Text 16"/>
          <p:cNvSpPr/>
          <p:nvPr/>
        </p:nvSpPr>
        <p:spPr>
          <a:xfrm>
            <a:off x="7772400" y="51937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kWh/yr</a:t>
            </a:r>
            <a:endParaRPr lang="en-US" sz="950"/>
          </a:p>
        </p:txBody>
      </p:sp>
      <p:sp>
        <p:nvSpPr>
          <p:cNvPr id="20" name="Text 17"/>
          <p:cNvSpPr/>
          <p:nvPr/>
        </p:nvSpPr>
        <p:spPr>
          <a:xfrm>
            <a:off x="9784080" y="4626864"/>
            <a:ext cx="1783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10 kWp system</a:t>
            </a:r>
            <a:endParaRPr lang="en-US" sz="1150"/>
          </a:p>
        </p:txBody>
      </p:sp>
      <p:sp>
        <p:nvSpPr>
          <p:cNvPr id="21" name="Shape 18"/>
          <p:cNvSpPr/>
          <p:nvPr/>
        </p:nvSpPr>
        <p:spPr>
          <a:xfrm>
            <a:off x="548640" y="5742432"/>
            <a:ext cx="11091672" cy="621792"/>
          </a:xfrm>
          <a:prstGeom prst="roundRect">
            <a:avLst>
              <a:gd name="adj" fmla="val 11765"/>
            </a:avLst>
          </a:prstGeom>
          <a:solidFill>
            <a:srgbClr val="132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22960" y="5742432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>
                <a:solidFill>
                  <a:srgbClr val="F5F7FA"/>
                </a:solidFill>
                <a:latin typeface="Calibri"/>
                <a:ea typeface="Calibri"/>
                <a:cs typeface="Calibri"/>
              </a:rPr>
              <a:t>All four cities rank among the sunniest in Canada and even Edmonton outperforms most European solar markets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Energy Potential Analysis Across Alberta  |  SAIT Data Analytics Capstone 2026  |  Group 3</a:t>
            </a:r>
            <a:endParaRPr lang="en-US" sz="850"/>
          </a:p>
        </p:txBody>
      </p:sp>
      <p:sp>
        <p:nvSpPr>
          <p:cNvPr id="24" name="Text 21"/>
          <p:cNvSpPr/>
          <p:nvPr/>
        </p:nvSpPr>
        <p:spPr>
          <a:xfrm>
            <a:off x="10972800" y="65471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8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PATTERNS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30352" y="72941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Solar Irradiance — 20-Year Climatology (1998–2017)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1783080" y="1307592"/>
            <a:ext cx="8039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950"/>
          </a:p>
        </p:txBody>
      </p:sp>
      <p:sp>
        <p:nvSpPr>
          <p:cNvPr id="5" name="Text 3"/>
          <p:cNvSpPr/>
          <p:nvPr/>
        </p:nvSpPr>
        <p:spPr>
          <a:xfrm>
            <a:off x="2586990" y="1307592"/>
            <a:ext cx="8039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950"/>
          </a:p>
        </p:txBody>
      </p:sp>
      <p:sp>
        <p:nvSpPr>
          <p:cNvPr id="6" name="Text 4"/>
          <p:cNvSpPr/>
          <p:nvPr/>
        </p:nvSpPr>
        <p:spPr>
          <a:xfrm>
            <a:off x="3390900" y="1307592"/>
            <a:ext cx="8039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950"/>
          </a:p>
        </p:txBody>
      </p:sp>
      <p:sp>
        <p:nvSpPr>
          <p:cNvPr id="7" name="Text 5"/>
          <p:cNvSpPr/>
          <p:nvPr/>
        </p:nvSpPr>
        <p:spPr>
          <a:xfrm>
            <a:off x="4194810" y="1307592"/>
            <a:ext cx="8039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950"/>
          </a:p>
        </p:txBody>
      </p:sp>
      <p:sp>
        <p:nvSpPr>
          <p:cNvPr id="8" name="Text 6"/>
          <p:cNvSpPr/>
          <p:nvPr/>
        </p:nvSpPr>
        <p:spPr>
          <a:xfrm>
            <a:off x="4998720" y="1307592"/>
            <a:ext cx="8039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950"/>
          </a:p>
        </p:txBody>
      </p:sp>
      <p:sp>
        <p:nvSpPr>
          <p:cNvPr id="9" name="Text 7"/>
          <p:cNvSpPr/>
          <p:nvPr/>
        </p:nvSpPr>
        <p:spPr>
          <a:xfrm>
            <a:off x="5802630" y="1307592"/>
            <a:ext cx="8039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950"/>
          </a:p>
        </p:txBody>
      </p:sp>
      <p:sp>
        <p:nvSpPr>
          <p:cNvPr id="10" name="Text 8"/>
          <p:cNvSpPr/>
          <p:nvPr/>
        </p:nvSpPr>
        <p:spPr>
          <a:xfrm>
            <a:off x="6606540" y="1307592"/>
            <a:ext cx="8039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950"/>
          </a:p>
        </p:txBody>
      </p:sp>
      <p:sp>
        <p:nvSpPr>
          <p:cNvPr id="11" name="Text 9"/>
          <p:cNvSpPr/>
          <p:nvPr/>
        </p:nvSpPr>
        <p:spPr>
          <a:xfrm>
            <a:off x="7410450" y="1307592"/>
            <a:ext cx="8039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950"/>
          </a:p>
        </p:txBody>
      </p:sp>
      <p:sp>
        <p:nvSpPr>
          <p:cNvPr id="12" name="Text 10"/>
          <p:cNvSpPr/>
          <p:nvPr/>
        </p:nvSpPr>
        <p:spPr>
          <a:xfrm>
            <a:off x="8214360" y="1307592"/>
            <a:ext cx="8039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950"/>
          </a:p>
        </p:txBody>
      </p:sp>
      <p:sp>
        <p:nvSpPr>
          <p:cNvPr id="13" name="Text 11"/>
          <p:cNvSpPr/>
          <p:nvPr/>
        </p:nvSpPr>
        <p:spPr>
          <a:xfrm>
            <a:off x="9018270" y="1307592"/>
            <a:ext cx="8039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950"/>
          </a:p>
        </p:txBody>
      </p:sp>
      <p:sp>
        <p:nvSpPr>
          <p:cNvPr id="14" name="Text 12"/>
          <p:cNvSpPr/>
          <p:nvPr/>
        </p:nvSpPr>
        <p:spPr>
          <a:xfrm>
            <a:off x="9822180" y="1307592"/>
            <a:ext cx="8039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950"/>
          </a:p>
        </p:txBody>
      </p:sp>
      <p:sp>
        <p:nvSpPr>
          <p:cNvPr id="15" name="Text 13"/>
          <p:cNvSpPr/>
          <p:nvPr/>
        </p:nvSpPr>
        <p:spPr>
          <a:xfrm>
            <a:off x="10626090" y="1307592"/>
            <a:ext cx="8039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950"/>
          </a:p>
        </p:txBody>
      </p:sp>
      <p:sp>
        <p:nvSpPr>
          <p:cNvPr id="16" name="Text 14"/>
          <p:cNvSpPr/>
          <p:nvPr/>
        </p:nvSpPr>
        <p:spPr>
          <a:xfrm>
            <a:off x="548640" y="1600200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Lethbridge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1783080" y="1600200"/>
            <a:ext cx="776478" cy="630936"/>
          </a:xfrm>
          <a:prstGeom prst="rect">
            <a:avLst/>
          </a:prstGeom>
          <a:solidFill>
            <a:srgbClr val="FDE5A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783080" y="1600200"/>
            <a:ext cx="77647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1,282</a:t>
            </a:r>
            <a:endParaRPr lang="en-US" sz="870"/>
          </a:p>
        </p:txBody>
      </p:sp>
      <p:sp>
        <p:nvSpPr>
          <p:cNvPr id="19" name="Shape 17"/>
          <p:cNvSpPr/>
          <p:nvPr/>
        </p:nvSpPr>
        <p:spPr>
          <a:xfrm>
            <a:off x="2586990" y="1600200"/>
            <a:ext cx="776478" cy="630936"/>
          </a:xfrm>
          <a:prstGeom prst="rect">
            <a:avLst/>
          </a:prstGeom>
          <a:solidFill>
            <a:srgbClr val="FBD15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586990" y="1600200"/>
            <a:ext cx="77647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2,204</a:t>
            </a:r>
            <a:endParaRPr lang="en-US" sz="870"/>
          </a:p>
        </p:txBody>
      </p:sp>
      <p:sp>
        <p:nvSpPr>
          <p:cNvPr id="21" name="Shape 19"/>
          <p:cNvSpPr/>
          <p:nvPr/>
        </p:nvSpPr>
        <p:spPr>
          <a:xfrm>
            <a:off x="3390900" y="1600200"/>
            <a:ext cx="776478" cy="630936"/>
          </a:xfrm>
          <a:prstGeom prst="rect">
            <a:avLst/>
          </a:prstGeom>
          <a:solidFill>
            <a:srgbClr val="F7B60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90900" y="1600200"/>
            <a:ext cx="77647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3,459</a:t>
            </a:r>
            <a:endParaRPr lang="en-US" sz="870"/>
          </a:p>
        </p:txBody>
      </p:sp>
      <p:sp>
        <p:nvSpPr>
          <p:cNvPr id="23" name="Shape 21"/>
          <p:cNvSpPr/>
          <p:nvPr/>
        </p:nvSpPr>
        <p:spPr>
          <a:xfrm>
            <a:off x="4194810" y="1600200"/>
            <a:ext cx="776478" cy="630936"/>
          </a:xfrm>
          <a:prstGeom prst="rect">
            <a:avLst/>
          </a:prstGeom>
          <a:solidFill>
            <a:srgbClr val="F17D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94810" y="1600200"/>
            <a:ext cx="77647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4,930</a:t>
            </a:r>
            <a:endParaRPr lang="en-US" sz="870"/>
          </a:p>
        </p:txBody>
      </p:sp>
      <p:sp>
        <p:nvSpPr>
          <p:cNvPr id="25" name="Shape 23"/>
          <p:cNvSpPr/>
          <p:nvPr/>
        </p:nvSpPr>
        <p:spPr>
          <a:xfrm>
            <a:off x="4998720" y="1600200"/>
            <a:ext cx="776478" cy="630936"/>
          </a:xfrm>
          <a:prstGeom prst="rect">
            <a:avLst/>
          </a:prstGeom>
          <a:solidFill>
            <a:srgbClr val="D1550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98720" y="1600200"/>
            <a:ext cx="77647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5,919</a:t>
            </a:r>
            <a:endParaRPr lang="en-US" sz="870"/>
          </a:p>
        </p:txBody>
      </p:sp>
      <p:sp>
        <p:nvSpPr>
          <p:cNvPr id="27" name="Shape 25"/>
          <p:cNvSpPr/>
          <p:nvPr/>
        </p:nvSpPr>
        <p:spPr>
          <a:xfrm>
            <a:off x="5802630" y="1600200"/>
            <a:ext cx="776478" cy="630936"/>
          </a:xfrm>
          <a:prstGeom prst="rect">
            <a:avLst/>
          </a:prstGeom>
          <a:solidFill>
            <a:srgbClr val="B9430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802630" y="1600200"/>
            <a:ext cx="77647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6,361</a:t>
            </a:r>
            <a:endParaRPr lang="en-US" sz="870"/>
          </a:p>
        </p:txBody>
      </p:sp>
      <p:sp>
        <p:nvSpPr>
          <p:cNvPr id="29" name="Shape 27"/>
          <p:cNvSpPr/>
          <p:nvPr/>
        </p:nvSpPr>
        <p:spPr>
          <a:xfrm>
            <a:off x="6606540" y="1600200"/>
            <a:ext cx="776478" cy="630936"/>
          </a:xfrm>
          <a:prstGeom prst="rect">
            <a:avLst/>
          </a:prstGeom>
          <a:solidFill>
            <a:srgbClr val="9D2D0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606540" y="1600200"/>
            <a:ext cx="77647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6,887</a:t>
            </a:r>
            <a:endParaRPr lang="en-US" sz="870"/>
          </a:p>
        </p:txBody>
      </p:sp>
      <p:sp>
        <p:nvSpPr>
          <p:cNvPr id="31" name="Shape 29"/>
          <p:cNvSpPr/>
          <p:nvPr/>
        </p:nvSpPr>
        <p:spPr>
          <a:xfrm>
            <a:off x="7410450" y="1600200"/>
            <a:ext cx="776478" cy="630936"/>
          </a:xfrm>
          <a:prstGeom prst="rect">
            <a:avLst/>
          </a:prstGeom>
          <a:solidFill>
            <a:srgbClr val="E1610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410450" y="1600200"/>
            <a:ext cx="77647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5,620</a:t>
            </a:r>
            <a:endParaRPr lang="en-US" sz="870"/>
          </a:p>
        </p:txBody>
      </p:sp>
      <p:sp>
        <p:nvSpPr>
          <p:cNvPr id="33" name="Shape 31"/>
          <p:cNvSpPr/>
          <p:nvPr/>
        </p:nvSpPr>
        <p:spPr>
          <a:xfrm>
            <a:off x="8214360" y="1600200"/>
            <a:ext cx="776478" cy="630936"/>
          </a:xfrm>
          <a:prstGeom prst="rect">
            <a:avLst/>
          </a:prstGeom>
          <a:solidFill>
            <a:srgbClr val="F59F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214360" y="1600200"/>
            <a:ext cx="77647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4,070</a:t>
            </a:r>
            <a:endParaRPr lang="en-US" sz="870"/>
          </a:p>
        </p:txBody>
      </p:sp>
      <p:sp>
        <p:nvSpPr>
          <p:cNvPr id="35" name="Shape 33"/>
          <p:cNvSpPr/>
          <p:nvPr/>
        </p:nvSpPr>
        <p:spPr>
          <a:xfrm>
            <a:off x="9018270" y="1600200"/>
            <a:ext cx="776478" cy="630936"/>
          </a:xfrm>
          <a:prstGeom prst="rect">
            <a:avLst/>
          </a:prstGeom>
          <a:solidFill>
            <a:srgbClr val="FACA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018270" y="1600200"/>
            <a:ext cx="77647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2,546</a:t>
            </a:r>
            <a:endParaRPr lang="en-US" sz="870"/>
          </a:p>
        </p:txBody>
      </p:sp>
      <p:sp>
        <p:nvSpPr>
          <p:cNvPr id="37" name="Shape 35"/>
          <p:cNvSpPr/>
          <p:nvPr/>
        </p:nvSpPr>
        <p:spPr>
          <a:xfrm>
            <a:off x="9822180" y="1600200"/>
            <a:ext cx="776478" cy="630936"/>
          </a:xfrm>
          <a:prstGeom prst="rect">
            <a:avLst/>
          </a:prstGeom>
          <a:solidFill>
            <a:srgbClr val="FDE19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822180" y="1600200"/>
            <a:ext cx="77647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1,454</a:t>
            </a:r>
            <a:endParaRPr lang="en-US" sz="870"/>
          </a:p>
        </p:txBody>
      </p:sp>
      <p:sp>
        <p:nvSpPr>
          <p:cNvPr id="39" name="Shape 37"/>
          <p:cNvSpPr/>
          <p:nvPr/>
        </p:nvSpPr>
        <p:spPr>
          <a:xfrm>
            <a:off x="10626090" y="1600200"/>
            <a:ext cx="776478" cy="630936"/>
          </a:xfrm>
          <a:prstGeom prst="rect">
            <a:avLst/>
          </a:prstGeom>
          <a:solidFill>
            <a:srgbClr val="FEEAB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0626090" y="1600200"/>
            <a:ext cx="77647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1,046</a:t>
            </a:r>
            <a:endParaRPr lang="en-US" sz="870"/>
          </a:p>
        </p:txBody>
      </p:sp>
      <p:sp>
        <p:nvSpPr>
          <p:cNvPr id="41" name="Text 39"/>
          <p:cNvSpPr/>
          <p:nvPr/>
        </p:nvSpPr>
        <p:spPr>
          <a:xfrm>
            <a:off x="548640" y="2258568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Hat</a:t>
            </a:r>
            <a:endParaRPr lang="en-US" sz="1100"/>
          </a:p>
        </p:txBody>
      </p:sp>
      <p:sp>
        <p:nvSpPr>
          <p:cNvPr id="42" name="Shape 40"/>
          <p:cNvSpPr/>
          <p:nvPr/>
        </p:nvSpPr>
        <p:spPr>
          <a:xfrm>
            <a:off x="1783080" y="2258568"/>
            <a:ext cx="776478" cy="630936"/>
          </a:xfrm>
          <a:prstGeom prst="rect">
            <a:avLst/>
          </a:prstGeom>
          <a:solidFill>
            <a:srgbClr val="FEE6A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783080" y="2258568"/>
            <a:ext cx="77647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1,241</a:t>
            </a:r>
            <a:endParaRPr lang="en-US" sz="870"/>
          </a:p>
        </p:txBody>
      </p:sp>
      <p:sp>
        <p:nvSpPr>
          <p:cNvPr id="44" name="Shape 42"/>
          <p:cNvSpPr/>
          <p:nvPr/>
        </p:nvSpPr>
        <p:spPr>
          <a:xfrm>
            <a:off x="2586990" y="2258568"/>
            <a:ext cx="776478" cy="630936"/>
          </a:xfrm>
          <a:prstGeom prst="rect">
            <a:avLst/>
          </a:prstGeom>
          <a:solidFill>
            <a:srgbClr val="FBD36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586990" y="2258568"/>
            <a:ext cx="77647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2,130</a:t>
            </a:r>
            <a:endParaRPr lang="en-US" sz="870"/>
          </a:p>
        </p:txBody>
      </p:sp>
      <p:sp>
        <p:nvSpPr>
          <p:cNvPr id="46" name="Shape 44"/>
          <p:cNvSpPr/>
          <p:nvPr/>
        </p:nvSpPr>
        <p:spPr>
          <a:xfrm>
            <a:off x="3390900" y="2258568"/>
            <a:ext cx="776478" cy="630936"/>
          </a:xfrm>
          <a:prstGeom prst="rect">
            <a:avLst/>
          </a:prstGeom>
          <a:solidFill>
            <a:srgbClr val="F7B70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390900" y="2258568"/>
            <a:ext cx="77647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3,420</a:t>
            </a:r>
            <a:endParaRPr lang="en-US" sz="870"/>
          </a:p>
        </p:txBody>
      </p:sp>
      <p:sp>
        <p:nvSpPr>
          <p:cNvPr id="48" name="Shape 46"/>
          <p:cNvSpPr/>
          <p:nvPr/>
        </p:nvSpPr>
        <p:spPr>
          <a:xfrm>
            <a:off x="4194810" y="2258568"/>
            <a:ext cx="776478" cy="630936"/>
          </a:xfrm>
          <a:prstGeom prst="rect">
            <a:avLst/>
          </a:prstGeom>
          <a:solidFill>
            <a:srgbClr val="F17F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194810" y="2258568"/>
            <a:ext cx="77647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4,870</a:t>
            </a:r>
            <a:endParaRPr lang="en-US" sz="870"/>
          </a:p>
        </p:txBody>
      </p:sp>
      <p:sp>
        <p:nvSpPr>
          <p:cNvPr id="50" name="Shape 48"/>
          <p:cNvSpPr/>
          <p:nvPr/>
        </p:nvSpPr>
        <p:spPr>
          <a:xfrm>
            <a:off x="4998720" y="2258568"/>
            <a:ext cx="776478" cy="630936"/>
          </a:xfrm>
          <a:prstGeom prst="rect">
            <a:avLst/>
          </a:prstGeom>
          <a:solidFill>
            <a:srgbClr val="D5580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998720" y="2258568"/>
            <a:ext cx="77647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5,848</a:t>
            </a:r>
            <a:endParaRPr lang="en-US" sz="870"/>
          </a:p>
        </p:txBody>
      </p:sp>
      <p:sp>
        <p:nvSpPr>
          <p:cNvPr id="52" name="Shape 50"/>
          <p:cNvSpPr/>
          <p:nvPr/>
        </p:nvSpPr>
        <p:spPr>
          <a:xfrm>
            <a:off x="5802630" y="2258568"/>
            <a:ext cx="776478" cy="630936"/>
          </a:xfrm>
          <a:prstGeom prst="rect">
            <a:avLst/>
          </a:prstGeom>
          <a:solidFill>
            <a:srgbClr val="BE470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802630" y="2258568"/>
            <a:ext cx="77647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6,269</a:t>
            </a:r>
            <a:endParaRPr lang="en-US" sz="870"/>
          </a:p>
        </p:txBody>
      </p:sp>
      <p:sp>
        <p:nvSpPr>
          <p:cNvPr id="54" name="Shape 52"/>
          <p:cNvSpPr/>
          <p:nvPr/>
        </p:nvSpPr>
        <p:spPr>
          <a:xfrm>
            <a:off x="6606540" y="2258568"/>
            <a:ext cx="776478" cy="630936"/>
          </a:xfrm>
          <a:prstGeom prst="rect">
            <a:avLst/>
          </a:prstGeom>
          <a:solidFill>
            <a:srgbClr val="9C2D0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606540" y="2258568"/>
            <a:ext cx="77647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6,898</a:t>
            </a:r>
            <a:endParaRPr lang="en-US" sz="870"/>
          </a:p>
        </p:txBody>
      </p:sp>
      <p:sp>
        <p:nvSpPr>
          <p:cNvPr id="56" name="Shape 54"/>
          <p:cNvSpPr/>
          <p:nvPr/>
        </p:nvSpPr>
        <p:spPr>
          <a:xfrm>
            <a:off x="7410450" y="2258568"/>
            <a:ext cx="776478" cy="630936"/>
          </a:xfrm>
          <a:prstGeom prst="rect">
            <a:avLst/>
          </a:prstGeom>
          <a:solidFill>
            <a:srgbClr val="E2620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410450" y="2258568"/>
            <a:ext cx="77647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5,606</a:t>
            </a:r>
            <a:endParaRPr lang="en-US" sz="870"/>
          </a:p>
        </p:txBody>
      </p:sp>
      <p:sp>
        <p:nvSpPr>
          <p:cNvPr id="58" name="Shape 56"/>
          <p:cNvSpPr/>
          <p:nvPr/>
        </p:nvSpPr>
        <p:spPr>
          <a:xfrm>
            <a:off x="8214360" y="2258568"/>
            <a:ext cx="776478" cy="630936"/>
          </a:xfrm>
          <a:prstGeom prst="rect">
            <a:avLst/>
          </a:prstGeom>
          <a:solidFill>
            <a:srgbClr val="F5A2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8214360" y="2258568"/>
            <a:ext cx="77647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4,011</a:t>
            </a:r>
            <a:endParaRPr lang="en-US" sz="870"/>
          </a:p>
        </p:txBody>
      </p:sp>
      <p:sp>
        <p:nvSpPr>
          <p:cNvPr id="60" name="Shape 58"/>
          <p:cNvSpPr/>
          <p:nvPr/>
        </p:nvSpPr>
        <p:spPr>
          <a:xfrm>
            <a:off x="9018270" y="2258568"/>
            <a:ext cx="776478" cy="630936"/>
          </a:xfrm>
          <a:prstGeom prst="rect">
            <a:avLst/>
          </a:prstGeom>
          <a:solidFill>
            <a:srgbClr val="FACB4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9018270" y="2258568"/>
            <a:ext cx="77647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2,473</a:t>
            </a:r>
            <a:endParaRPr lang="en-US" sz="870"/>
          </a:p>
        </p:txBody>
      </p:sp>
      <p:sp>
        <p:nvSpPr>
          <p:cNvPr id="62" name="Shape 60"/>
          <p:cNvSpPr/>
          <p:nvPr/>
        </p:nvSpPr>
        <p:spPr>
          <a:xfrm>
            <a:off x="9822180" y="2258568"/>
            <a:ext cx="776478" cy="630936"/>
          </a:xfrm>
          <a:prstGeom prst="rect">
            <a:avLst/>
          </a:prstGeom>
          <a:solidFill>
            <a:srgbClr val="FDE29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9822180" y="2258568"/>
            <a:ext cx="77647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1,404</a:t>
            </a:r>
            <a:endParaRPr lang="en-US" sz="870"/>
          </a:p>
        </p:txBody>
      </p:sp>
      <p:sp>
        <p:nvSpPr>
          <p:cNvPr id="64" name="Shape 62"/>
          <p:cNvSpPr/>
          <p:nvPr/>
        </p:nvSpPr>
        <p:spPr>
          <a:xfrm>
            <a:off x="10626090" y="2258568"/>
            <a:ext cx="776478" cy="630936"/>
          </a:xfrm>
          <a:prstGeom prst="rect">
            <a:avLst/>
          </a:prstGeom>
          <a:solidFill>
            <a:srgbClr val="FEEAB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10626090" y="2258568"/>
            <a:ext cx="77647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1,028</a:t>
            </a:r>
            <a:endParaRPr lang="en-US" sz="870"/>
          </a:p>
        </p:txBody>
      </p:sp>
      <p:sp>
        <p:nvSpPr>
          <p:cNvPr id="66" name="Text 64"/>
          <p:cNvSpPr/>
          <p:nvPr/>
        </p:nvSpPr>
        <p:spPr>
          <a:xfrm>
            <a:off x="548640" y="2916936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Calgary</a:t>
            </a:r>
            <a:endParaRPr lang="en-US" sz="1100"/>
          </a:p>
        </p:txBody>
      </p:sp>
      <p:sp>
        <p:nvSpPr>
          <p:cNvPr id="67" name="Shape 65"/>
          <p:cNvSpPr/>
          <p:nvPr/>
        </p:nvSpPr>
        <p:spPr>
          <a:xfrm>
            <a:off x="1783080" y="2916936"/>
            <a:ext cx="776478" cy="630936"/>
          </a:xfrm>
          <a:prstGeom prst="rect">
            <a:avLst/>
          </a:prstGeom>
          <a:solidFill>
            <a:srgbClr val="FEE7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1783080" y="2916936"/>
            <a:ext cx="77647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1,199</a:t>
            </a:r>
            <a:endParaRPr lang="en-US" sz="870"/>
          </a:p>
        </p:txBody>
      </p:sp>
      <p:sp>
        <p:nvSpPr>
          <p:cNvPr id="69" name="Shape 67"/>
          <p:cNvSpPr/>
          <p:nvPr/>
        </p:nvSpPr>
        <p:spPr>
          <a:xfrm>
            <a:off x="2586990" y="2916936"/>
            <a:ext cx="776478" cy="630936"/>
          </a:xfrm>
          <a:prstGeom prst="rect">
            <a:avLst/>
          </a:prstGeom>
          <a:solidFill>
            <a:srgbClr val="FBD36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2586990" y="2916936"/>
            <a:ext cx="77647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2,130</a:t>
            </a:r>
            <a:endParaRPr lang="en-US" sz="870"/>
          </a:p>
        </p:txBody>
      </p:sp>
      <p:sp>
        <p:nvSpPr>
          <p:cNvPr id="71" name="Shape 69"/>
          <p:cNvSpPr/>
          <p:nvPr/>
        </p:nvSpPr>
        <p:spPr>
          <a:xfrm>
            <a:off x="3390900" y="2916936"/>
            <a:ext cx="776478" cy="630936"/>
          </a:xfrm>
          <a:prstGeom prst="rect">
            <a:avLst/>
          </a:prstGeom>
          <a:solidFill>
            <a:srgbClr val="F7B80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3390900" y="2916936"/>
            <a:ext cx="77647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3,374</a:t>
            </a:r>
            <a:endParaRPr lang="en-US" sz="870"/>
          </a:p>
        </p:txBody>
      </p:sp>
      <p:sp>
        <p:nvSpPr>
          <p:cNvPr id="73" name="Shape 71"/>
          <p:cNvSpPr/>
          <p:nvPr/>
        </p:nvSpPr>
        <p:spPr>
          <a:xfrm>
            <a:off x="4194810" y="2916936"/>
            <a:ext cx="776478" cy="630936"/>
          </a:xfrm>
          <a:prstGeom prst="rect">
            <a:avLst/>
          </a:prstGeom>
          <a:solidFill>
            <a:srgbClr val="F284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4194810" y="2916936"/>
            <a:ext cx="77647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4,758</a:t>
            </a:r>
            <a:endParaRPr lang="en-US" sz="870"/>
          </a:p>
        </p:txBody>
      </p:sp>
      <p:sp>
        <p:nvSpPr>
          <p:cNvPr id="75" name="Shape 73"/>
          <p:cNvSpPr/>
          <p:nvPr/>
        </p:nvSpPr>
        <p:spPr>
          <a:xfrm>
            <a:off x="4998720" y="2916936"/>
            <a:ext cx="776478" cy="630936"/>
          </a:xfrm>
          <a:prstGeom prst="rect">
            <a:avLst/>
          </a:prstGeom>
          <a:solidFill>
            <a:srgbClr val="DC5E0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4998720" y="2916936"/>
            <a:ext cx="77647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5,712</a:t>
            </a:r>
            <a:endParaRPr lang="en-US" sz="870"/>
          </a:p>
        </p:txBody>
      </p:sp>
      <p:sp>
        <p:nvSpPr>
          <p:cNvPr id="77" name="Shape 75"/>
          <p:cNvSpPr/>
          <p:nvPr/>
        </p:nvSpPr>
        <p:spPr>
          <a:xfrm>
            <a:off x="5802630" y="2916936"/>
            <a:ext cx="776478" cy="630936"/>
          </a:xfrm>
          <a:prstGeom prst="rect">
            <a:avLst/>
          </a:prstGeom>
          <a:solidFill>
            <a:srgbClr val="CF540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5802630" y="2916936"/>
            <a:ext cx="77647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5,954</a:t>
            </a:r>
            <a:endParaRPr lang="en-US" sz="870"/>
          </a:p>
        </p:txBody>
      </p:sp>
      <p:sp>
        <p:nvSpPr>
          <p:cNvPr id="79" name="Shape 77"/>
          <p:cNvSpPr/>
          <p:nvPr/>
        </p:nvSpPr>
        <p:spPr>
          <a:xfrm>
            <a:off x="6606540" y="2916936"/>
            <a:ext cx="776478" cy="630936"/>
          </a:xfrm>
          <a:prstGeom prst="rect">
            <a:avLst/>
          </a:prstGeom>
          <a:solidFill>
            <a:srgbClr val="B7420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6606540" y="2916936"/>
            <a:ext cx="77647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6,394</a:t>
            </a:r>
            <a:endParaRPr lang="en-US" sz="870"/>
          </a:p>
        </p:txBody>
      </p:sp>
      <p:sp>
        <p:nvSpPr>
          <p:cNvPr id="81" name="Shape 79"/>
          <p:cNvSpPr/>
          <p:nvPr/>
        </p:nvSpPr>
        <p:spPr>
          <a:xfrm>
            <a:off x="7410450" y="2916936"/>
            <a:ext cx="776478" cy="630936"/>
          </a:xfrm>
          <a:prstGeom prst="rect">
            <a:avLst/>
          </a:prstGeom>
          <a:solidFill>
            <a:srgbClr val="EF70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7410450" y="2916936"/>
            <a:ext cx="77647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5,268</a:t>
            </a:r>
            <a:endParaRPr lang="en-US" sz="870"/>
          </a:p>
        </p:txBody>
      </p:sp>
      <p:sp>
        <p:nvSpPr>
          <p:cNvPr id="83" name="Shape 81"/>
          <p:cNvSpPr/>
          <p:nvPr/>
        </p:nvSpPr>
        <p:spPr>
          <a:xfrm>
            <a:off x="8214360" y="2916936"/>
            <a:ext cx="776478" cy="630936"/>
          </a:xfrm>
          <a:prstGeom prst="rect">
            <a:avLst/>
          </a:prstGeom>
          <a:solidFill>
            <a:srgbClr val="F6A9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8214360" y="2916936"/>
            <a:ext cx="77647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3,817</a:t>
            </a:r>
            <a:endParaRPr lang="en-US" sz="870"/>
          </a:p>
        </p:txBody>
      </p:sp>
      <p:sp>
        <p:nvSpPr>
          <p:cNvPr id="85" name="Shape 83"/>
          <p:cNvSpPr/>
          <p:nvPr/>
        </p:nvSpPr>
        <p:spPr>
          <a:xfrm>
            <a:off x="9018270" y="2916936"/>
            <a:ext cx="776478" cy="630936"/>
          </a:xfrm>
          <a:prstGeom prst="rect">
            <a:avLst/>
          </a:prstGeom>
          <a:solidFill>
            <a:srgbClr val="FACD5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9018270" y="2916936"/>
            <a:ext cx="77647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2,397</a:t>
            </a:r>
            <a:endParaRPr lang="en-US" sz="870"/>
          </a:p>
        </p:txBody>
      </p:sp>
      <p:sp>
        <p:nvSpPr>
          <p:cNvPr id="87" name="Shape 85"/>
          <p:cNvSpPr/>
          <p:nvPr/>
        </p:nvSpPr>
        <p:spPr>
          <a:xfrm>
            <a:off x="9822180" y="2916936"/>
            <a:ext cx="776478" cy="630936"/>
          </a:xfrm>
          <a:prstGeom prst="rect">
            <a:avLst/>
          </a:prstGeom>
          <a:solidFill>
            <a:srgbClr val="FDE39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9822180" y="2916936"/>
            <a:ext cx="77647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1,366</a:t>
            </a:r>
            <a:endParaRPr lang="en-US" sz="870"/>
          </a:p>
        </p:txBody>
      </p:sp>
      <p:sp>
        <p:nvSpPr>
          <p:cNvPr id="89" name="Shape 87"/>
          <p:cNvSpPr/>
          <p:nvPr/>
        </p:nvSpPr>
        <p:spPr>
          <a:xfrm>
            <a:off x="10626090" y="2916936"/>
            <a:ext cx="776478" cy="630936"/>
          </a:xfrm>
          <a:prstGeom prst="rect">
            <a:avLst/>
          </a:prstGeom>
          <a:solidFill>
            <a:srgbClr val="FEEB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10626090" y="2916936"/>
            <a:ext cx="77647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966</a:t>
            </a:r>
            <a:endParaRPr lang="en-US" sz="870"/>
          </a:p>
        </p:txBody>
      </p:sp>
      <p:sp>
        <p:nvSpPr>
          <p:cNvPr id="91" name="Text 89"/>
          <p:cNvSpPr/>
          <p:nvPr/>
        </p:nvSpPr>
        <p:spPr>
          <a:xfrm>
            <a:off x="548640" y="3575304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Edmonton</a:t>
            </a:r>
            <a:endParaRPr lang="en-US" sz="1100"/>
          </a:p>
        </p:txBody>
      </p:sp>
      <p:sp>
        <p:nvSpPr>
          <p:cNvPr id="92" name="Shape 90"/>
          <p:cNvSpPr/>
          <p:nvPr/>
        </p:nvSpPr>
        <p:spPr>
          <a:xfrm>
            <a:off x="1783080" y="3575304"/>
            <a:ext cx="776478" cy="630936"/>
          </a:xfrm>
          <a:prstGeom prst="rect">
            <a:avLst/>
          </a:prstGeom>
          <a:solidFill>
            <a:srgbClr val="FEEB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1783080" y="3575304"/>
            <a:ext cx="77647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966</a:t>
            </a:r>
            <a:endParaRPr lang="en-US" sz="870"/>
          </a:p>
        </p:txBody>
      </p:sp>
      <p:sp>
        <p:nvSpPr>
          <p:cNvPr id="94" name="Shape 92"/>
          <p:cNvSpPr/>
          <p:nvPr/>
        </p:nvSpPr>
        <p:spPr>
          <a:xfrm>
            <a:off x="2586990" y="3575304"/>
            <a:ext cx="776478" cy="630936"/>
          </a:xfrm>
          <a:prstGeom prst="rect">
            <a:avLst/>
          </a:prstGeom>
          <a:solidFill>
            <a:srgbClr val="FCD97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2586990" y="3575304"/>
            <a:ext cx="77647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1,841</a:t>
            </a:r>
            <a:endParaRPr lang="en-US" sz="870"/>
          </a:p>
        </p:txBody>
      </p:sp>
      <p:sp>
        <p:nvSpPr>
          <p:cNvPr id="96" name="Shape 94"/>
          <p:cNvSpPr/>
          <p:nvPr/>
        </p:nvSpPr>
        <p:spPr>
          <a:xfrm>
            <a:off x="3390900" y="3575304"/>
            <a:ext cx="776478" cy="630936"/>
          </a:xfrm>
          <a:prstGeom prst="rect">
            <a:avLst/>
          </a:prstGeom>
          <a:solidFill>
            <a:srgbClr val="F8BD1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3390900" y="3575304"/>
            <a:ext cx="77647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3,146</a:t>
            </a:r>
            <a:endParaRPr lang="en-US" sz="870"/>
          </a:p>
        </p:txBody>
      </p:sp>
      <p:sp>
        <p:nvSpPr>
          <p:cNvPr id="98" name="Shape 96"/>
          <p:cNvSpPr/>
          <p:nvPr/>
        </p:nvSpPr>
        <p:spPr>
          <a:xfrm>
            <a:off x="4194810" y="3575304"/>
            <a:ext cx="776478" cy="630936"/>
          </a:xfrm>
          <a:prstGeom prst="rect">
            <a:avLst/>
          </a:prstGeom>
          <a:solidFill>
            <a:srgbClr val="F28A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4194810" y="3575304"/>
            <a:ext cx="77647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4,601</a:t>
            </a:r>
            <a:endParaRPr lang="en-US" sz="870"/>
          </a:p>
        </p:txBody>
      </p:sp>
      <p:sp>
        <p:nvSpPr>
          <p:cNvPr id="100" name="Shape 98"/>
          <p:cNvSpPr/>
          <p:nvPr/>
        </p:nvSpPr>
        <p:spPr>
          <a:xfrm>
            <a:off x="4998720" y="3575304"/>
            <a:ext cx="776478" cy="630936"/>
          </a:xfrm>
          <a:prstGeom prst="rect">
            <a:avLst/>
          </a:prstGeom>
          <a:solidFill>
            <a:srgbClr val="D95C0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4998720" y="3575304"/>
            <a:ext cx="77647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5,763</a:t>
            </a:r>
            <a:endParaRPr lang="en-US" sz="870"/>
          </a:p>
        </p:txBody>
      </p:sp>
      <p:sp>
        <p:nvSpPr>
          <p:cNvPr id="102" name="Shape 100"/>
          <p:cNvSpPr/>
          <p:nvPr/>
        </p:nvSpPr>
        <p:spPr>
          <a:xfrm>
            <a:off x="5802630" y="3575304"/>
            <a:ext cx="776478" cy="630936"/>
          </a:xfrm>
          <a:prstGeom prst="rect">
            <a:avLst/>
          </a:prstGeom>
          <a:solidFill>
            <a:srgbClr val="CE530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5802630" y="3575304"/>
            <a:ext cx="77647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5,973</a:t>
            </a:r>
            <a:endParaRPr lang="en-US" sz="870"/>
          </a:p>
        </p:txBody>
      </p:sp>
      <p:sp>
        <p:nvSpPr>
          <p:cNvPr id="104" name="Shape 102"/>
          <p:cNvSpPr/>
          <p:nvPr/>
        </p:nvSpPr>
        <p:spPr>
          <a:xfrm>
            <a:off x="6606540" y="3575304"/>
            <a:ext cx="776478" cy="630936"/>
          </a:xfrm>
          <a:prstGeom prst="rect">
            <a:avLst/>
          </a:prstGeom>
          <a:solidFill>
            <a:srgbClr val="C74E0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6606540" y="3575304"/>
            <a:ext cx="77647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6,104</a:t>
            </a:r>
            <a:endParaRPr lang="en-US" sz="870"/>
          </a:p>
        </p:txBody>
      </p:sp>
      <p:sp>
        <p:nvSpPr>
          <p:cNvPr id="106" name="Shape 104"/>
          <p:cNvSpPr/>
          <p:nvPr/>
        </p:nvSpPr>
        <p:spPr>
          <a:xfrm>
            <a:off x="7410450" y="3575304"/>
            <a:ext cx="776478" cy="630936"/>
          </a:xfrm>
          <a:prstGeom prst="rect">
            <a:avLst/>
          </a:prstGeom>
          <a:solidFill>
            <a:srgbClr val="F076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7410450" y="3575304"/>
            <a:ext cx="77647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5,115</a:t>
            </a:r>
            <a:endParaRPr lang="en-US" sz="870"/>
          </a:p>
        </p:txBody>
      </p:sp>
      <p:sp>
        <p:nvSpPr>
          <p:cNvPr id="108" name="Shape 106"/>
          <p:cNvSpPr/>
          <p:nvPr/>
        </p:nvSpPr>
        <p:spPr>
          <a:xfrm>
            <a:off x="8214360" y="3575304"/>
            <a:ext cx="776478" cy="630936"/>
          </a:xfrm>
          <a:prstGeom prst="rect">
            <a:avLst/>
          </a:prstGeom>
          <a:solidFill>
            <a:srgbClr val="F7B4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8214360" y="3575304"/>
            <a:ext cx="77647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3,537</a:t>
            </a:r>
            <a:endParaRPr lang="en-US" sz="870"/>
          </a:p>
        </p:txBody>
      </p:sp>
      <p:sp>
        <p:nvSpPr>
          <p:cNvPr id="110" name="Shape 108"/>
          <p:cNvSpPr/>
          <p:nvPr/>
        </p:nvSpPr>
        <p:spPr>
          <a:xfrm>
            <a:off x="9018270" y="3575304"/>
            <a:ext cx="776478" cy="630936"/>
          </a:xfrm>
          <a:prstGeom prst="rect">
            <a:avLst/>
          </a:prstGeom>
          <a:solidFill>
            <a:srgbClr val="FBD4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/>
          <p:nvPr/>
        </p:nvSpPr>
        <p:spPr>
          <a:xfrm>
            <a:off x="9018270" y="3575304"/>
            <a:ext cx="77647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2,064</a:t>
            </a:r>
            <a:endParaRPr lang="en-US" sz="870"/>
          </a:p>
        </p:txBody>
      </p:sp>
      <p:sp>
        <p:nvSpPr>
          <p:cNvPr id="112" name="Shape 110"/>
          <p:cNvSpPr/>
          <p:nvPr/>
        </p:nvSpPr>
        <p:spPr>
          <a:xfrm>
            <a:off x="9822180" y="3575304"/>
            <a:ext cx="776478" cy="630936"/>
          </a:xfrm>
          <a:prstGeom prst="rect">
            <a:avLst/>
          </a:prstGeom>
          <a:solidFill>
            <a:srgbClr val="FEE8A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9822180" y="3575304"/>
            <a:ext cx="77647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1,108</a:t>
            </a:r>
            <a:endParaRPr lang="en-US" sz="870"/>
          </a:p>
        </p:txBody>
      </p:sp>
      <p:sp>
        <p:nvSpPr>
          <p:cNvPr id="114" name="Shape 112"/>
          <p:cNvSpPr/>
          <p:nvPr/>
        </p:nvSpPr>
        <p:spPr>
          <a:xfrm>
            <a:off x="10626090" y="3575304"/>
            <a:ext cx="776478" cy="630936"/>
          </a:xfrm>
          <a:prstGeom prst="rect">
            <a:avLst/>
          </a:prstGeom>
          <a:solidFill>
            <a:srgbClr val="FFF0C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10626090" y="3575304"/>
            <a:ext cx="77647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754</a:t>
            </a:r>
            <a:endParaRPr lang="en-US" sz="870"/>
          </a:p>
        </p:txBody>
      </p:sp>
      <p:sp>
        <p:nvSpPr>
          <p:cNvPr id="116" name="Text 114"/>
          <p:cNvSpPr/>
          <p:nvPr/>
        </p:nvSpPr>
        <p:spPr>
          <a:xfrm>
            <a:off x="548640" y="446227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daily total GHI (Wh/m²/day)</a:t>
            </a:r>
            <a:endParaRPr lang="en-US" sz="950"/>
          </a:p>
        </p:txBody>
      </p:sp>
      <p:sp>
        <p:nvSpPr>
          <p:cNvPr id="117" name="Shape 115"/>
          <p:cNvSpPr/>
          <p:nvPr/>
        </p:nvSpPr>
        <p:spPr>
          <a:xfrm>
            <a:off x="3931920" y="4462272"/>
            <a:ext cx="77724" cy="201168"/>
          </a:xfrm>
          <a:prstGeom prst="rect">
            <a:avLst/>
          </a:prstGeom>
          <a:solidFill>
            <a:srgbClr val="FFF0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4005072" y="4462272"/>
            <a:ext cx="77724" cy="201168"/>
          </a:xfrm>
          <a:prstGeom prst="rect">
            <a:avLst/>
          </a:prstGeom>
          <a:solidFill>
            <a:srgbClr val="FFED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4078224" y="4462272"/>
            <a:ext cx="77724" cy="201168"/>
          </a:xfrm>
          <a:prstGeom prst="rect">
            <a:avLst/>
          </a:prstGeom>
          <a:solidFill>
            <a:srgbClr val="FEE9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4151376" y="4462272"/>
            <a:ext cx="77724" cy="201168"/>
          </a:xfrm>
          <a:prstGeom prst="rect">
            <a:avLst/>
          </a:prstGeom>
          <a:solidFill>
            <a:srgbClr val="FEE6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4224528" y="4462272"/>
            <a:ext cx="77724" cy="201168"/>
          </a:xfrm>
          <a:prstGeom prst="rect">
            <a:avLst/>
          </a:prstGeom>
          <a:solidFill>
            <a:srgbClr val="FDE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4297680" y="4462272"/>
            <a:ext cx="77724" cy="201168"/>
          </a:xfrm>
          <a:prstGeom prst="rect">
            <a:avLst/>
          </a:prstGeom>
          <a:solidFill>
            <a:srgbClr val="FDDF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4370832" y="4462272"/>
            <a:ext cx="77724" cy="201168"/>
          </a:xfrm>
          <a:prstGeom prst="rect">
            <a:avLst/>
          </a:prstGeom>
          <a:solidFill>
            <a:srgbClr val="FCDC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4443984" y="4462272"/>
            <a:ext cx="77724" cy="201168"/>
          </a:xfrm>
          <a:prstGeom prst="rect">
            <a:avLst/>
          </a:prstGeom>
          <a:solidFill>
            <a:srgbClr val="FCD8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4517136" y="4462272"/>
            <a:ext cx="77724" cy="201168"/>
          </a:xfrm>
          <a:prstGeom prst="rect">
            <a:avLst/>
          </a:prstGeom>
          <a:solidFill>
            <a:srgbClr val="FBD5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4590288" y="4462272"/>
            <a:ext cx="77724" cy="201168"/>
          </a:xfrm>
          <a:prstGeom prst="rect">
            <a:avLst/>
          </a:prstGeom>
          <a:solidFill>
            <a:srgbClr val="FBD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4663440" y="4462272"/>
            <a:ext cx="77724" cy="201168"/>
          </a:xfrm>
          <a:prstGeom prst="rect">
            <a:avLst/>
          </a:prstGeom>
          <a:solidFill>
            <a:srgbClr val="FAC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4736592" y="4462272"/>
            <a:ext cx="77724" cy="201168"/>
          </a:xfrm>
          <a:prstGeom prst="rect">
            <a:avLst/>
          </a:prstGeom>
          <a:solidFill>
            <a:srgbClr val="FAC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4809744" y="4462272"/>
            <a:ext cx="77724" cy="201168"/>
          </a:xfrm>
          <a:prstGeom prst="rect">
            <a:avLst/>
          </a:prstGeom>
          <a:solidFill>
            <a:srgbClr val="FAC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4882896" y="4462272"/>
            <a:ext cx="77724" cy="201168"/>
          </a:xfrm>
          <a:prstGeom prst="rect">
            <a:avLst/>
          </a:prstGeom>
          <a:solidFill>
            <a:srgbClr val="F9C4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4956048" y="4462272"/>
            <a:ext cx="77724" cy="201168"/>
          </a:xfrm>
          <a:prstGeom prst="rect">
            <a:avLst/>
          </a:prstGeom>
          <a:solidFill>
            <a:srgbClr val="F9C1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5029200" y="4462272"/>
            <a:ext cx="77724" cy="201168"/>
          </a:xfrm>
          <a:prstGeom prst="rect">
            <a:avLst/>
          </a:prstGeom>
          <a:solidFill>
            <a:srgbClr val="F8BE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5102352" y="4462272"/>
            <a:ext cx="77724" cy="201168"/>
          </a:xfrm>
          <a:prstGeom prst="rect">
            <a:avLst/>
          </a:prstGeom>
          <a:solidFill>
            <a:srgbClr val="F8BA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5175504" y="4462272"/>
            <a:ext cx="77724" cy="201168"/>
          </a:xfrm>
          <a:prstGeom prst="rect">
            <a:avLst/>
          </a:prstGeom>
          <a:solidFill>
            <a:srgbClr val="F7B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>
            <a:off x="5248656" y="4462272"/>
            <a:ext cx="77724" cy="201168"/>
          </a:xfrm>
          <a:prstGeom prst="rect">
            <a:avLst/>
          </a:prstGeom>
          <a:solidFill>
            <a:srgbClr val="F7B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5321808" y="4462272"/>
            <a:ext cx="77724" cy="201168"/>
          </a:xfrm>
          <a:prstGeom prst="rect">
            <a:avLst/>
          </a:prstGeom>
          <a:solidFill>
            <a:srgbClr val="F6A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5394960" y="4462272"/>
            <a:ext cx="77724" cy="201168"/>
          </a:xfrm>
          <a:prstGeom prst="rect">
            <a:avLst/>
          </a:prstGeom>
          <a:solidFill>
            <a:srgbClr val="F5A6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5468112" y="4462272"/>
            <a:ext cx="77724" cy="201168"/>
          </a:xfrm>
          <a:prstGeom prst="rect">
            <a:avLst/>
          </a:prstGeom>
          <a:solidFill>
            <a:srgbClr val="F59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5541264" y="4462272"/>
            <a:ext cx="77724" cy="201168"/>
          </a:xfrm>
          <a:prstGeom prst="rect">
            <a:avLst/>
          </a:prstGeom>
          <a:solidFill>
            <a:srgbClr val="F49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5614416" y="4462272"/>
            <a:ext cx="77724" cy="201168"/>
          </a:xfrm>
          <a:prstGeom prst="rect">
            <a:avLst/>
          </a:prstGeom>
          <a:solidFill>
            <a:srgbClr val="F39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5687568" y="4462272"/>
            <a:ext cx="77724" cy="201168"/>
          </a:xfrm>
          <a:prstGeom prst="rect">
            <a:avLst/>
          </a:prstGeom>
          <a:solidFill>
            <a:srgbClr val="F38D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5760720" y="4462272"/>
            <a:ext cx="77724" cy="201168"/>
          </a:xfrm>
          <a:prstGeom prst="rect">
            <a:avLst/>
          </a:prstGeom>
          <a:solidFill>
            <a:srgbClr val="F28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5833872" y="4462272"/>
            <a:ext cx="77724" cy="201168"/>
          </a:xfrm>
          <a:prstGeom prst="rect">
            <a:avLst/>
          </a:prstGeom>
          <a:solidFill>
            <a:srgbClr val="F18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5907024" y="4462272"/>
            <a:ext cx="77724" cy="201168"/>
          </a:xfrm>
          <a:prstGeom prst="rect">
            <a:avLst/>
          </a:prstGeom>
          <a:solidFill>
            <a:srgbClr val="F17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5980176" y="4462272"/>
            <a:ext cx="77724" cy="201168"/>
          </a:xfrm>
          <a:prstGeom prst="rect">
            <a:avLst/>
          </a:prstGeom>
          <a:solidFill>
            <a:srgbClr val="F07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6" name="Shape 144"/>
          <p:cNvSpPr/>
          <p:nvPr/>
        </p:nvSpPr>
        <p:spPr>
          <a:xfrm>
            <a:off x="6053328" y="4462272"/>
            <a:ext cx="77724" cy="201168"/>
          </a:xfrm>
          <a:prstGeom prst="rect">
            <a:avLst/>
          </a:prstGeom>
          <a:solidFill>
            <a:srgbClr val="EF6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7" name="Shape 145"/>
          <p:cNvSpPr/>
          <p:nvPr/>
        </p:nvSpPr>
        <p:spPr>
          <a:xfrm>
            <a:off x="6126480" y="4462272"/>
            <a:ext cx="77724" cy="201168"/>
          </a:xfrm>
          <a:prstGeom prst="rect">
            <a:avLst/>
          </a:prstGeom>
          <a:solidFill>
            <a:srgbClr val="E9670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>
            <a:off x="6199632" y="4462272"/>
            <a:ext cx="77724" cy="201168"/>
          </a:xfrm>
          <a:prstGeom prst="rect">
            <a:avLst/>
          </a:prstGeom>
          <a:solidFill>
            <a:srgbClr val="E061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9" name="Shape 147"/>
          <p:cNvSpPr/>
          <p:nvPr/>
        </p:nvSpPr>
        <p:spPr>
          <a:xfrm>
            <a:off x="6272784" y="4462272"/>
            <a:ext cx="77724" cy="201168"/>
          </a:xfrm>
          <a:prstGeom prst="rect">
            <a:avLst/>
          </a:prstGeom>
          <a:solidFill>
            <a:srgbClr val="D85A0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0" name="Shape 148"/>
          <p:cNvSpPr/>
          <p:nvPr/>
        </p:nvSpPr>
        <p:spPr>
          <a:xfrm>
            <a:off x="6345936" y="4462272"/>
            <a:ext cx="77724" cy="201168"/>
          </a:xfrm>
          <a:prstGeom prst="rect">
            <a:avLst/>
          </a:prstGeom>
          <a:solidFill>
            <a:srgbClr val="CF54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1" name="Shape 149"/>
          <p:cNvSpPr/>
          <p:nvPr/>
        </p:nvSpPr>
        <p:spPr>
          <a:xfrm>
            <a:off x="6419088" y="4462272"/>
            <a:ext cx="77724" cy="201168"/>
          </a:xfrm>
          <a:prstGeom prst="rect">
            <a:avLst/>
          </a:prstGeom>
          <a:solidFill>
            <a:srgbClr val="C74D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6492240" y="4462272"/>
            <a:ext cx="77724" cy="201168"/>
          </a:xfrm>
          <a:prstGeom prst="rect">
            <a:avLst/>
          </a:prstGeom>
          <a:solidFill>
            <a:srgbClr val="BE4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3" name="Shape 151"/>
          <p:cNvSpPr/>
          <p:nvPr/>
        </p:nvSpPr>
        <p:spPr>
          <a:xfrm>
            <a:off x="6565392" y="4462272"/>
            <a:ext cx="77724" cy="201168"/>
          </a:xfrm>
          <a:prstGeom prst="rect">
            <a:avLst/>
          </a:prstGeom>
          <a:solidFill>
            <a:srgbClr val="B640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4" name="Shape 152"/>
          <p:cNvSpPr/>
          <p:nvPr/>
        </p:nvSpPr>
        <p:spPr>
          <a:xfrm>
            <a:off x="6638544" y="4462272"/>
            <a:ext cx="77724" cy="201168"/>
          </a:xfrm>
          <a:prstGeom prst="rect">
            <a:avLst/>
          </a:prstGeom>
          <a:solidFill>
            <a:srgbClr val="AD3A0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5" name="Shape 153"/>
          <p:cNvSpPr/>
          <p:nvPr/>
        </p:nvSpPr>
        <p:spPr>
          <a:xfrm>
            <a:off x="6711696" y="4462272"/>
            <a:ext cx="77724" cy="201168"/>
          </a:xfrm>
          <a:prstGeom prst="rect">
            <a:avLst/>
          </a:prstGeom>
          <a:solidFill>
            <a:srgbClr val="A53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6" name="Shape 154"/>
          <p:cNvSpPr/>
          <p:nvPr/>
        </p:nvSpPr>
        <p:spPr>
          <a:xfrm>
            <a:off x="6784848" y="4462272"/>
            <a:ext cx="77724" cy="201168"/>
          </a:xfrm>
          <a:prstGeom prst="rect">
            <a:avLst/>
          </a:prstGeom>
          <a:solidFill>
            <a:srgbClr val="9C2D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7" name="Text 155"/>
          <p:cNvSpPr/>
          <p:nvPr/>
        </p:nvSpPr>
        <p:spPr>
          <a:xfrm>
            <a:off x="3913632" y="46817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/>
          </a:p>
        </p:txBody>
      </p:sp>
      <p:sp>
        <p:nvSpPr>
          <p:cNvPr id="158" name="Text 156"/>
          <p:cNvSpPr/>
          <p:nvPr/>
        </p:nvSpPr>
        <p:spPr>
          <a:xfrm>
            <a:off x="6400800" y="46817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/>
          </a:p>
        </p:txBody>
      </p:sp>
      <p:sp>
        <p:nvSpPr>
          <p:cNvPr id="159" name="Shape 157"/>
          <p:cNvSpPr/>
          <p:nvPr/>
        </p:nvSpPr>
        <p:spPr>
          <a:xfrm>
            <a:off x="548640" y="5056632"/>
            <a:ext cx="11091672" cy="896112"/>
          </a:xfrm>
          <a:prstGeom prst="roundRect">
            <a:avLst>
              <a:gd name="adj" fmla="val 8163"/>
            </a:avLst>
          </a:prstGeom>
          <a:solidFill>
            <a:srgbClr val="FEF3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0" name="Text 158"/>
          <p:cNvSpPr/>
          <p:nvPr/>
        </p:nvSpPr>
        <p:spPr>
          <a:xfrm>
            <a:off x="822960" y="51572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pattern shows</a:t>
            </a:r>
            <a:endParaRPr lang="en-US" sz="1100"/>
          </a:p>
        </p:txBody>
      </p:sp>
      <p:sp>
        <p:nvSpPr>
          <p:cNvPr id="161" name="Text 159"/>
          <p:cNvSpPr/>
          <p:nvPr/>
        </p:nvSpPr>
        <p:spPr>
          <a:xfrm>
            <a:off x="822960" y="53949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2000"/>
              </a:lnSpc>
              <a:buNone/>
            </a:pPr>
            <a:r>
              <a:rPr lang="en-US" sz="113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irradiance is 6–9× higher than December across all four cities a swing driven by day length, not latitude. Lethbridge and Medicine Hat hold the edge in nearly every month, while Edmonton's shorter winter days widen the seasonal gap the most</a:t>
            </a:r>
            <a:endParaRPr lang="en-US" sz="1130"/>
          </a:p>
        </p:txBody>
      </p:sp>
      <p:sp>
        <p:nvSpPr>
          <p:cNvPr id="162" name="Text 160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Energy Potential Analysis Across Alberta  |  SAIT Data Analytics Capstone 2026  |  Group 3</a:t>
            </a:r>
            <a:endParaRPr lang="en-US" sz="850"/>
          </a:p>
        </p:txBody>
      </p:sp>
      <p:sp>
        <p:nvSpPr>
          <p:cNvPr id="163" name="Text 161"/>
          <p:cNvSpPr/>
          <p:nvPr/>
        </p:nvSpPr>
        <p:spPr>
          <a:xfrm>
            <a:off x="10972800" y="65471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8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GHI Prediction Model — Random Forest R² = 0.917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EF3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0.917</a:t>
            </a:r>
            <a:endParaRPr lang="en-US" sz="220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R²</a:t>
            </a:r>
            <a:endParaRPr lang="en-US" sz="100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(Random Forest)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3310128" y="14173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10128" y="15087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36.6 Wh/m²</a:t>
            </a:r>
            <a:endParaRPr lang="en-US" sz="2200"/>
          </a:p>
        </p:txBody>
      </p:sp>
      <p:sp>
        <p:nvSpPr>
          <p:cNvPr id="9" name="Text 7"/>
          <p:cNvSpPr/>
          <p:nvPr/>
        </p:nvSpPr>
        <p:spPr>
          <a:xfrm>
            <a:off x="3310128" y="20116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</a:t>
            </a:r>
            <a:endParaRPr lang="en-US" sz="100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(MAE)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6071616" y="14173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71616" y="15087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69.5 Wh/m²</a:t>
            </a:r>
            <a:endParaRPr lang="en-US" sz="2200"/>
          </a:p>
        </p:txBody>
      </p:sp>
      <p:sp>
        <p:nvSpPr>
          <p:cNvPr id="12" name="Text 10"/>
          <p:cNvSpPr/>
          <p:nvPr/>
        </p:nvSpPr>
        <p:spPr>
          <a:xfrm>
            <a:off x="6071616" y="20116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Sq.</a:t>
            </a:r>
            <a:endParaRPr lang="en-US" sz="100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(RMSE)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8833104" y="14173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DE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833104" y="15087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EF6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0.695</a:t>
            </a:r>
            <a:endParaRPr lang="en-US" sz="2200"/>
          </a:p>
        </p:txBody>
      </p:sp>
      <p:sp>
        <p:nvSpPr>
          <p:cNvPr id="15" name="Text 13"/>
          <p:cNvSpPr/>
          <p:nvPr/>
        </p:nvSpPr>
        <p:spPr>
          <a:xfrm>
            <a:off x="8833104" y="20116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R²</a:t>
            </a:r>
            <a:endParaRPr lang="en-US" sz="100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(Linear Reg.)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548640" y="28803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City-Level R² on Held-Out Test Set</a:t>
            </a:r>
            <a:endParaRPr lang="en-US" sz="1300"/>
          </a:p>
        </p:txBody>
      </p:sp>
      <p:graphicFrame>
        <p:nvGraphicFramePr>
          <p:cNvPr id="17" name="Chart 0"/>
          <p:cNvGraphicFramePr/>
          <p:nvPr/>
        </p:nvGraphicFramePr>
        <p:xfrm>
          <a:off x="457200" y="3200400"/>
          <a:ext cx="57607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5"/>
          <p:cNvSpPr/>
          <p:nvPr/>
        </p:nvSpPr>
        <p:spPr>
          <a:xfrm>
            <a:off x="6537960" y="2880360"/>
            <a:ext cx="5102352" cy="3273552"/>
          </a:xfrm>
          <a:prstGeom prst="roundRect">
            <a:avLst>
              <a:gd name="adj" fmla="val 2235"/>
            </a:avLst>
          </a:prstGeom>
          <a:solidFill>
            <a:srgbClr val="132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812280" y="30358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Design &amp; Key Features</a:t>
            </a:r>
            <a:endParaRPr lang="en-US" sz="1300"/>
          </a:p>
        </p:txBody>
      </p:sp>
      <p:sp>
        <p:nvSpPr>
          <p:cNvPr id="20" name="Text 17"/>
          <p:cNvSpPr/>
          <p:nvPr/>
        </p:nvSpPr>
        <p:spPr>
          <a:xfrm>
            <a:off x="6812280" y="34015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 SPLIT</a:t>
            </a:r>
            <a:endParaRPr lang="en-US" sz="850"/>
          </a:p>
        </p:txBody>
      </p:sp>
      <p:sp>
        <p:nvSpPr>
          <p:cNvPr id="21" name="Text 18"/>
          <p:cNvSpPr/>
          <p:nvPr/>
        </p:nvSpPr>
        <p:spPr>
          <a:xfrm>
            <a:off x="6812280" y="35753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950">
                <a:solidFill>
                  <a:srgbClr val="E7ECF2"/>
                </a:solidFill>
                <a:latin typeface="Calibri"/>
                <a:ea typeface="Calibri"/>
                <a:cs typeface="Calibri"/>
              </a:rPr>
              <a:t>70% / 15% / 15% -  chronological to prevent data leakage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812280" y="392734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FEATURES</a:t>
            </a:r>
            <a:endParaRPr lang="en-US" sz="850"/>
          </a:p>
        </p:txBody>
      </p:sp>
      <p:sp>
        <p:nvSpPr>
          <p:cNvPr id="23" name="Text 20"/>
          <p:cNvSpPr/>
          <p:nvPr/>
        </p:nvSpPr>
        <p:spPr>
          <a:xfrm>
            <a:off x="6812280" y="41010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err="1">
                <a:solidFill>
                  <a:srgbClr val="E7ECF2"/>
                </a:solidFill>
                <a:latin typeface="Calibri"/>
                <a:ea typeface="Calibri"/>
                <a:cs typeface="Calibri"/>
              </a:rPr>
              <a:t>sunshine_min</a:t>
            </a:r>
            <a:r>
              <a:rPr lang="en-US" sz="950">
                <a:solidFill>
                  <a:srgbClr val="E7ECF2"/>
                </a:solidFill>
                <a:latin typeface="Calibri"/>
                <a:ea typeface="Calibri"/>
                <a:cs typeface="Calibri"/>
              </a:rPr>
              <a:t>, DNI, </a:t>
            </a:r>
            <a:r>
              <a:rPr lang="en-US" sz="950" err="1">
                <a:solidFill>
                  <a:srgbClr val="E7ECF2"/>
                </a:solidFill>
                <a:latin typeface="Calibri"/>
                <a:ea typeface="Calibri"/>
                <a:cs typeface="Calibri"/>
              </a:rPr>
              <a:t>hour_sin</a:t>
            </a:r>
            <a:r>
              <a:rPr lang="en-US" sz="950">
                <a:solidFill>
                  <a:srgbClr val="E7ECF2"/>
                </a:solidFill>
                <a:latin typeface="Calibri"/>
                <a:ea typeface="Calibri"/>
                <a:cs typeface="Calibri"/>
              </a:rPr>
              <a:t>/cos, clear_sky_index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812280" y="44531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RANDOM FOREST</a:t>
            </a:r>
            <a:endParaRPr lang="en-US" sz="850"/>
          </a:p>
        </p:txBody>
      </p:sp>
      <p:sp>
        <p:nvSpPr>
          <p:cNvPr id="25" name="Text 22"/>
          <p:cNvSpPr/>
          <p:nvPr/>
        </p:nvSpPr>
        <p:spPr>
          <a:xfrm>
            <a:off x="6812280" y="46268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nonlinear GHI–cloud interactions; handles zero-inflated night distribution</a:t>
            </a:r>
            <a:endParaRPr lang="en-US" sz="980"/>
          </a:p>
        </p:txBody>
      </p:sp>
      <p:sp>
        <p:nvSpPr>
          <p:cNvPr id="26" name="Text 23"/>
          <p:cNvSpPr/>
          <p:nvPr/>
        </p:nvSpPr>
        <p:spPr>
          <a:xfrm>
            <a:off x="6812280" y="49789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LINEAR REGRESSION</a:t>
            </a:r>
            <a:endParaRPr lang="en-US" sz="850"/>
          </a:p>
        </p:txBody>
      </p:sp>
      <p:sp>
        <p:nvSpPr>
          <p:cNvPr id="27" name="Text 24"/>
          <p:cNvSpPr/>
          <p:nvPr/>
        </p:nvSpPr>
        <p:spPr>
          <a:xfrm>
            <a:off x="6812280" y="515264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950">
                <a:solidFill>
                  <a:srgbClr val="E7ECF2"/>
                </a:solidFill>
                <a:latin typeface="Calibri"/>
                <a:ea typeface="Calibri"/>
                <a:cs typeface="Calibri"/>
              </a:rPr>
              <a:t>R² jumped 0.695 → 0.917; a 32% relative improvement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6812280" y="550468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CROSS-CITY GENERALITY</a:t>
            </a:r>
            <a:endParaRPr lang="en-US" sz="850"/>
          </a:p>
        </p:txBody>
      </p:sp>
      <p:sp>
        <p:nvSpPr>
          <p:cNvPr id="29" name="Text 26"/>
          <p:cNvSpPr/>
          <p:nvPr/>
        </p:nvSpPr>
        <p:spPr>
          <a:xfrm>
            <a:off x="6812280" y="56784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all 4 cities jointly with one-hot encoding</a:t>
            </a:r>
            <a:endParaRPr lang="en-US" sz="980"/>
          </a:p>
        </p:txBody>
      </p:sp>
      <p:sp>
        <p:nvSpPr>
          <p:cNvPr id="30" name="Text 27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Energy Potential Analysis Across Alberta  |  SAIT Data Analytics Capstone 2026  |  Group 3</a:t>
            </a:r>
            <a:endParaRPr lang="en-US" sz="850"/>
          </a:p>
        </p:txBody>
      </p:sp>
      <p:sp>
        <p:nvSpPr>
          <p:cNvPr id="31" name="Text 28"/>
          <p:cNvSpPr/>
          <p:nvPr/>
        </p:nvSpPr>
        <p:spPr>
          <a:xfrm>
            <a:off x="10972800" y="65471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8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SAIT Campus Validation — Real-World Pattern Consistency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4663440"/>
          </a:xfrm>
          <a:prstGeom prst="roundRect">
            <a:avLst>
              <a:gd name="adj" fmla="val 2564"/>
            </a:avLst>
          </a:prstGeom>
          <a:solidFill>
            <a:srgbClr val="132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>
                <a:solidFill>
                  <a:srgbClr val="F5B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0.97</a:t>
            </a:r>
            <a:endParaRPr lang="en-US" sz="440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</a:t>
            </a:r>
            <a:endParaRPr lang="en-US" sz="115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CWEEDS GHI vs SAIT measured PV generation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914400" y="4343400"/>
            <a:ext cx="2834640" cy="0"/>
          </a:xfrm>
          <a:prstGeom prst="line">
            <a:avLst/>
          </a:prstGeom>
          <a:noFill/>
          <a:ln w="12700">
            <a:solidFill>
              <a:srgbClr val="2A46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4526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confirms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822960" y="4800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CWEEDS accurately represents the solar climate that real Calgary PV systems experience.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4434840" y="148132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Unique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4434840" y="178308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8000"/>
              </a:lnSpc>
              <a:buNone/>
            </a:pPr>
            <a:r>
              <a:rPr lang="en-US" sz="120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comparable academic solar projects work entirely with historical weather data and produce theoretical estimates. We have real measured output from an operating Calgary PV system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4434840" y="254203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 Direct Temporal Validation?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4434840" y="2843784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8000"/>
              </a:lnSpc>
              <a:buNone/>
            </a:pPr>
            <a:r>
              <a:rPr lang="en-US" sz="120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CWEEDS ends December 2017. SAIT data begins April 2018. There is no overlapping period for a direct time-matched comparison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4434840" y="345643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 Instead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4434840" y="3758184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8000"/>
              </a:lnSpc>
              <a:buNone/>
            </a:pPr>
            <a:r>
              <a:rPr lang="en-US" sz="120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climatological consistency check: normalized historical Calgary GHI patterns (CWEEDS, averaged by month × hour) compared against the normalized SAIT PV generation profile (2019–2023) to test whether the seasonal and diurnal solar pattern captured by CWEEDS matches what the real system experiences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4434840" y="4828032"/>
            <a:ext cx="7223760" cy="566928"/>
          </a:xfrm>
          <a:prstGeom prst="roundRect">
            <a:avLst>
              <a:gd name="adj" fmla="val 9677"/>
            </a:avLst>
          </a:prstGeom>
          <a:solidFill>
            <a:srgbClr val="FEF3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17720" y="4828032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7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The seasonal curve (summer peak, winter trough) matches almost perfectly between the two datasets</a:t>
            </a:r>
            <a:endParaRPr lang="en-US" sz="1070"/>
          </a:p>
        </p:txBody>
      </p:sp>
      <p:sp>
        <p:nvSpPr>
          <p:cNvPr id="19" name="Shape 17"/>
          <p:cNvSpPr/>
          <p:nvPr/>
        </p:nvSpPr>
        <p:spPr>
          <a:xfrm>
            <a:off x="4434840" y="5486400"/>
            <a:ext cx="7223760" cy="566928"/>
          </a:xfrm>
          <a:prstGeom prst="roundRect">
            <a:avLst>
              <a:gd name="adj" fmla="val 9677"/>
            </a:avLst>
          </a:prstGeom>
          <a:solidFill>
            <a:srgbClr val="FEF3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17720" y="548640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7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The diurnal pattern (morning ramp, midday peak, afternoon decline) also aligns with near-zero offset</a:t>
            </a:r>
            <a:endParaRPr lang="en-US" sz="1070"/>
          </a:p>
        </p:txBody>
      </p:sp>
      <p:sp>
        <p:nvSpPr>
          <p:cNvPr id="21" name="Text 1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Energy Potential Analysis Across Alberta  |  SAIT Data Analytics Capstone 2026  |  Group 3</a:t>
            </a:r>
            <a:endParaRPr lang="en-US" sz="850"/>
          </a:p>
        </p:txBody>
      </p:sp>
      <p:sp>
        <p:nvSpPr>
          <p:cNvPr id="22" name="Text 20"/>
          <p:cNvSpPr/>
          <p:nvPr/>
        </p:nvSpPr>
        <p:spPr>
          <a:xfrm>
            <a:off x="10972800" y="65471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8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Panel Tilt Angles and Payback Periods by City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Panel Tilt — Simulated 20°–60° Using POA Irradiance</a:t>
            </a:r>
            <a:endParaRPr lang="en-US" sz="1250"/>
          </a:p>
        </p:txBody>
      </p:sp>
      <p:sp>
        <p:nvSpPr>
          <p:cNvPr id="5" name="Shape 3"/>
          <p:cNvSpPr/>
          <p:nvPr/>
        </p:nvSpPr>
        <p:spPr>
          <a:xfrm>
            <a:off x="548640" y="1727698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81051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40°</a:t>
            </a:r>
            <a:endParaRPr lang="en-US" sz="320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Lethbridge</a:t>
            </a:r>
            <a:endParaRPr lang="en-US" sz="1150"/>
          </a:p>
        </p:txBody>
      </p:sp>
      <p:sp>
        <p:nvSpPr>
          <p:cNvPr id="8" name="Text 6"/>
          <p:cNvSpPr/>
          <p:nvPr/>
        </p:nvSpPr>
        <p:spPr>
          <a:xfrm>
            <a:off x="548640" y="272491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est.: 41°</a:t>
            </a:r>
            <a:endParaRPr lang="en-US" sz="950"/>
          </a:p>
        </p:txBody>
      </p:sp>
      <p:sp>
        <p:nvSpPr>
          <p:cNvPr id="9" name="Shape 7"/>
          <p:cNvSpPr/>
          <p:nvPr/>
        </p:nvSpPr>
        <p:spPr>
          <a:xfrm>
            <a:off x="3310128" y="1719072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10128" y="181051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39°</a:t>
            </a:r>
            <a:endParaRPr lang="en-US" sz="3200"/>
          </a:p>
        </p:txBody>
      </p:sp>
      <p:sp>
        <p:nvSpPr>
          <p:cNvPr id="11" name="Text 9"/>
          <p:cNvSpPr/>
          <p:nvPr/>
        </p:nvSpPr>
        <p:spPr>
          <a:xfrm>
            <a:off x="3310128" y="24688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Hat</a:t>
            </a:r>
            <a:endParaRPr lang="en-US" sz="1150"/>
          </a:p>
        </p:txBody>
      </p:sp>
      <p:sp>
        <p:nvSpPr>
          <p:cNvPr id="12" name="Text 10"/>
          <p:cNvSpPr/>
          <p:nvPr/>
        </p:nvSpPr>
        <p:spPr>
          <a:xfrm>
            <a:off x="3310128" y="272491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est.: 41°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6071616" y="1719072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71616" y="181051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42°</a:t>
            </a:r>
            <a:endParaRPr lang="en-US" sz="3200"/>
          </a:p>
        </p:txBody>
      </p:sp>
      <p:sp>
        <p:nvSpPr>
          <p:cNvPr id="15" name="Text 13"/>
          <p:cNvSpPr/>
          <p:nvPr/>
        </p:nvSpPr>
        <p:spPr>
          <a:xfrm>
            <a:off x="6071616" y="24688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Calgary</a:t>
            </a:r>
            <a:endParaRPr lang="en-US" sz="1150"/>
          </a:p>
        </p:txBody>
      </p:sp>
      <p:sp>
        <p:nvSpPr>
          <p:cNvPr id="16" name="Text 14"/>
          <p:cNvSpPr/>
          <p:nvPr/>
        </p:nvSpPr>
        <p:spPr>
          <a:xfrm>
            <a:off x="6071616" y="272491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est.: 42°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8833104" y="1719072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833104" y="181051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42°</a:t>
            </a:r>
            <a:endParaRPr lang="en-US" sz="3200"/>
          </a:p>
        </p:txBody>
      </p:sp>
      <p:sp>
        <p:nvSpPr>
          <p:cNvPr id="19" name="Text 17"/>
          <p:cNvSpPr/>
          <p:nvPr/>
        </p:nvSpPr>
        <p:spPr>
          <a:xfrm>
            <a:off x="8833104" y="24688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Edmonton</a:t>
            </a:r>
            <a:endParaRPr lang="en-US" sz="1150"/>
          </a:p>
        </p:txBody>
      </p:sp>
      <p:sp>
        <p:nvSpPr>
          <p:cNvPr id="20" name="Text 18"/>
          <p:cNvSpPr/>
          <p:nvPr/>
        </p:nvSpPr>
        <p:spPr>
          <a:xfrm>
            <a:off x="8833104" y="272491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est.: 44°</a:t>
            </a:r>
            <a:endParaRPr lang="en-US" sz="950"/>
          </a:p>
        </p:txBody>
      </p:sp>
      <p:sp>
        <p:nvSpPr>
          <p:cNvPr id="21" name="Text 19"/>
          <p:cNvSpPr/>
          <p:nvPr/>
        </p:nvSpPr>
        <p:spPr>
          <a:xfrm>
            <a:off x="548640" y="3337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Payback Period — Base: $2.50/Wp · $0.14/kWh · PR = 0.80</a:t>
            </a:r>
            <a:endParaRPr lang="en-US" sz="125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7600"/>
          <a:ext cx="11091672" cy="19202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kWp Annual (kWh)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Best-Case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Base-Case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Worst-Case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kWp Annual (kWh)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1">
                          <a:solidFill>
                            <a:srgbClr val="2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Lethbridge</a:t>
                      </a:r>
                      <a:endParaRPr lang="en-US" sz="103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>
                          <a:solidFill>
                            <a:srgbClr val="2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13,501</a:t>
                      </a:r>
                      <a:endParaRPr lang="en-US" sz="103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b="1">
                          <a:solidFill>
                            <a:srgbClr val="EF6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 yr</a:t>
                      </a:r>
                      <a:endParaRPr lang="en-US" sz="103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>
                          <a:solidFill>
                            <a:srgbClr val="2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 yr</a:t>
                      </a:r>
                      <a:endParaRPr lang="en-US" sz="103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>
                          <a:solidFill>
                            <a:srgbClr val="2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18.5 yr</a:t>
                      </a:r>
                      <a:endParaRPr lang="en-US" sz="103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>
                          <a:solidFill>
                            <a:srgbClr val="2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135,011</a:t>
                      </a:r>
                      <a:endParaRPr lang="en-US" sz="103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1">
                          <a:solidFill>
                            <a:srgbClr val="2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Medicine Hat</a:t>
                      </a:r>
                      <a:endParaRPr lang="en-US" sz="103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>
                          <a:solidFill>
                            <a:srgbClr val="2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13,274</a:t>
                      </a:r>
                      <a:endParaRPr lang="en-US" sz="103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b="1">
                          <a:solidFill>
                            <a:srgbClr val="EF6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 yr</a:t>
                      </a:r>
                      <a:endParaRPr lang="en-US" sz="103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>
                          <a:solidFill>
                            <a:srgbClr val="2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13.5 yr</a:t>
                      </a:r>
                      <a:endParaRPr lang="en-US" sz="103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>
                          <a:solidFill>
                            <a:srgbClr val="2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18.8 yr</a:t>
                      </a:r>
                      <a:endParaRPr lang="en-US" sz="103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>
                          <a:solidFill>
                            <a:srgbClr val="2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132,744</a:t>
                      </a:r>
                      <a:endParaRPr lang="en-US" sz="103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1">
                          <a:solidFill>
                            <a:srgbClr val="2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Calgary</a:t>
                      </a:r>
                      <a:endParaRPr lang="en-US" sz="103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>
                          <a:solidFill>
                            <a:srgbClr val="2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12,999</a:t>
                      </a:r>
                      <a:endParaRPr lang="en-US" sz="103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b="1">
                          <a:solidFill>
                            <a:srgbClr val="EF6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 yr</a:t>
                      </a:r>
                      <a:endParaRPr lang="en-US" sz="103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>
                          <a:solidFill>
                            <a:srgbClr val="2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 yr</a:t>
                      </a:r>
                      <a:endParaRPr lang="en-US" sz="103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>
                          <a:solidFill>
                            <a:srgbClr val="2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19.2 yr</a:t>
                      </a:r>
                      <a:endParaRPr lang="en-US" sz="103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>
                          <a:solidFill>
                            <a:srgbClr val="2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129,993</a:t>
                      </a:r>
                      <a:endParaRPr lang="en-US" sz="103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1">
                          <a:solidFill>
                            <a:srgbClr val="2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Edmonton</a:t>
                      </a:r>
                      <a:endParaRPr lang="en-US" sz="103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>
                          <a:solidFill>
                            <a:srgbClr val="2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12,296</a:t>
                      </a:r>
                      <a:endParaRPr lang="en-US" sz="103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b="1">
                          <a:solidFill>
                            <a:srgbClr val="EF6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 yr</a:t>
                      </a:r>
                      <a:endParaRPr lang="en-US" sz="103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>
                          <a:solidFill>
                            <a:srgbClr val="2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14.5 yr</a:t>
                      </a:r>
                      <a:endParaRPr lang="en-US" sz="103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>
                          <a:solidFill>
                            <a:srgbClr val="2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20.3 yr</a:t>
                      </a:r>
                      <a:endParaRPr lang="en-US" sz="103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>
                          <a:solidFill>
                            <a:srgbClr val="2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122,960</a:t>
                      </a:r>
                      <a:endParaRPr lang="en-US" sz="103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548640" y="58064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Best-case payback stays under 10 years in every city which is well within a 25-year panel lifespan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Energy Potential Analysis Across Alberta  |  SAIT Data Analytics Capstone 2026  |  Group 3</a:t>
            </a:r>
            <a:endParaRPr lang="en-US" sz="850"/>
          </a:p>
        </p:txBody>
      </p:sp>
      <p:sp>
        <p:nvSpPr>
          <p:cNvPr id="25" name="Text 22"/>
          <p:cNvSpPr/>
          <p:nvPr/>
        </p:nvSpPr>
        <p:spPr>
          <a:xfrm>
            <a:off x="10972800" y="65471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8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Long-Term GHI Trend — 1998–2017</a:t>
            </a:r>
            <a:endParaRPr lang="en-US" sz="300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17320"/>
          <a:ext cx="672084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34924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+ Mann-Kendall test confirm direction and significance per city</a:t>
            </a:r>
            <a:endParaRPr lang="en-US" sz="95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597194"/>
              </p:ext>
            </p:extLst>
          </p:nvPr>
        </p:nvGraphicFramePr>
        <p:xfrm>
          <a:off x="7406640" y="1417320"/>
          <a:ext cx="4251960" cy="192024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Slope/decade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Significant?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1">
                          <a:solidFill>
                            <a:srgbClr val="2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Edmonton</a:t>
                      </a:r>
                      <a:endParaRPr lang="en-US" sz="103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24303D"/>
                          </a:solidFill>
                          <a:latin typeface="Calibri"/>
                          <a:ea typeface="Calibri"/>
                          <a:cs typeface="Calibri"/>
                        </a:rPr>
                        <a:t>+2.95 kWh/m²</a:t>
                      </a:r>
                      <a:endParaRPr lang="en-US" sz="103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b="1">
                          <a:solidFill>
                            <a:srgbClr val="2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0.020</a:t>
                      </a:r>
                      <a:endParaRPr lang="en-US" sz="103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b="1">
                          <a:solidFill>
                            <a:srgbClr val="EF6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★</a:t>
                      </a:r>
                      <a:endParaRPr lang="en-US" sz="103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1">
                          <a:solidFill>
                            <a:srgbClr val="2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Calgary</a:t>
                      </a:r>
                      <a:endParaRPr lang="en-US" sz="103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4303D"/>
                          </a:solidFill>
                          <a:latin typeface="Calibri"/>
                          <a:ea typeface="Calibri"/>
                          <a:cs typeface="Calibri"/>
                        </a:rPr>
                        <a:t>+2.48 kWh/m²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4303D"/>
                          </a:solidFill>
                          <a:latin typeface="Calibri"/>
                          <a:ea typeface="Calibri"/>
                          <a:cs typeface="Calibri"/>
                        </a:rPr>
                        <a:t>0.167</a:t>
                      </a:r>
                      <a:endParaRPr lang="en-US" sz="103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>
                          <a:solidFill>
                            <a:srgbClr val="2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3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1">
                          <a:solidFill>
                            <a:srgbClr val="2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Lethbridge</a:t>
                      </a:r>
                      <a:endParaRPr lang="en-US" sz="103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4303D"/>
                          </a:solidFill>
                          <a:latin typeface="Calibri"/>
                          <a:ea typeface="Calibri"/>
                          <a:cs typeface="Calibri"/>
                        </a:rPr>
                        <a:t>+2.17 kWh/m²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>
                          <a:solidFill>
                            <a:srgbClr val="2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0.196</a:t>
                      </a:r>
                      <a:endParaRPr lang="en-US" sz="103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>
                          <a:solidFill>
                            <a:srgbClr val="2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3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1">
                          <a:solidFill>
                            <a:srgbClr val="2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Medicine Hat</a:t>
                      </a:r>
                      <a:endParaRPr lang="en-US" sz="103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4303D"/>
                          </a:solidFill>
                          <a:latin typeface="Calibri"/>
                          <a:ea typeface="Calibri"/>
                          <a:cs typeface="Calibri"/>
                        </a:rPr>
                        <a:t>+1.56 kWh/m²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>
                          <a:solidFill>
                            <a:srgbClr val="2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0.340</a:t>
                      </a:r>
                      <a:endParaRPr lang="en-US" sz="103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>
                          <a:solidFill>
                            <a:srgbClr val="2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3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406640" y="3520440"/>
            <a:ext cx="4251960" cy="2606040"/>
          </a:xfrm>
          <a:prstGeom prst="roundRect">
            <a:avLst>
              <a:gd name="adj" fmla="val 2807"/>
            </a:avLst>
          </a:prstGeom>
          <a:solidFill>
            <a:srgbClr val="132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7635240" y="3657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250"/>
          </a:p>
        </p:txBody>
      </p:sp>
      <p:sp>
        <p:nvSpPr>
          <p:cNvPr id="9" name="Text 5"/>
          <p:cNvSpPr/>
          <p:nvPr/>
        </p:nvSpPr>
        <p:spPr>
          <a:xfrm>
            <a:off x="7635240" y="395020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18000"/>
              </a:lnSpc>
            </a:pPr>
            <a:r>
              <a:rPr lang="en-US" sz="1100">
                <a:solidFill>
                  <a:srgbClr val="E7ECF2"/>
                </a:solidFill>
                <a:latin typeface="Calibri"/>
                <a:ea typeface="Calibri"/>
                <a:cs typeface="Calibri"/>
              </a:rPr>
              <a:t>Edmonton shows a statistically confirmed upward trend of +2.6 kWh/m²/decade - both linear regression and Mann-Kendall agree. The other three cities show positive but not-significant slopes: solar resources are stable, not declining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7635240" y="5120640"/>
            <a:ext cx="3749040" cy="0"/>
          </a:xfrm>
          <a:prstGeom prst="line">
            <a:avLst/>
          </a:prstGeom>
          <a:noFill/>
          <a:ln w="12700">
            <a:solidFill>
              <a:srgbClr val="2A46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7"/>
          <p:cNvSpPr/>
          <p:nvPr/>
        </p:nvSpPr>
        <p:spPr>
          <a:xfrm>
            <a:off x="7635240" y="523036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implication</a:t>
            </a:r>
            <a:endParaRPr lang="en-US" sz="1050"/>
          </a:p>
        </p:txBody>
      </p:sp>
      <p:sp>
        <p:nvSpPr>
          <p:cNvPr id="12" name="Text 8"/>
          <p:cNvSpPr/>
          <p:nvPr/>
        </p:nvSpPr>
        <p:spPr>
          <a:xfrm>
            <a:off x="7635240" y="546811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100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resources = reliable expected yield for the AUC and investors to plan against</a:t>
            </a:r>
            <a:endParaRPr lang="en-US" sz="1000"/>
          </a:p>
        </p:txBody>
      </p:sp>
      <p:sp>
        <p:nvSpPr>
          <p:cNvPr id="13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Energy Potential Analysis Across Alberta  |  SAIT Data Analytics Capstone 2026  |  Group 3</a:t>
            </a:r>
            <a:endParaRPr lang="en-US" sz="850"/>
          </a:p>
        </p:txBody>
      </p:sp>
      <p:sp>
        <p:nvSpPr>
          <p:cNvPr id="14" name="Text 10"/>
          <p:cNvSpPr/>
          <p:nvPr/>
        </p:nvSpPr>
        <p:spPr>
          <a:xfrm>
            <a:off x="10972800" y="65471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8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3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&amp; Recommendations for the AUC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Key Findings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548640" y="1700784"/>
            <a:ext cx="310896" cy="310896"/>
          </a:xfrm>
          <a:prstGeom prst="ellipse">
            <a:avLst/>
          </a:prstGeom>
          <a:solidFill>
            <a:srgbClr val="FEF3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700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4" b="1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84"/>
          </a:p>
        </p:txBody>
      </p:sp>
      <p:sp>
        <p:nvSpPr>
          <p:cNvPr id="7" name="Text 5"/>
          <p:cNvSpPr/>
          <p:nvPr/>
        </p:nvSpPr>
        <p:spPr>
          <a:xfrm>
            <a:off x="987552" y="167335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Lethbridge leads Alberta in solar potential</a:t>
            </a:r>
            <a:endParaRPr lang="en-US" sz="1130"/>
          </a:p>
        </p:txBody>
      </p:sp>
      <p:sp>
        <p:nvSpPr>
          <p:cNvPr id="8" name="Text 6"/>
          <p:cNvSpPr/>
          <p:nvPr/>
        </p:nvSpPr>
        <p:spPr>
          <a:xfrm>
            <a:off x="987552" y="1947672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2000"/>
              </a:lnSpc>
            </a:pPr>
            <a:r>
              <a:rPr lang="en-US" sz="9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Annual POA 1,688 kWh/m² which is 9.8% more than Edmonton. Latitude is the primary driver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478024"/>
            <a:ext cx="310896" cy="310896"/>
          </a:xfrm>
          <a:prstGeom prst="ellipse">
            <a:avLst/>
          </a:prstGeom>
          <a:solidFill>
            <a:srgbClr val="FEF3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478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4" b="1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84"/>
          </a:p>
        </p:txBody>
      </p:sp>
      <p:sp>
        <p:nvSpPr>
          <p:cNvPr id="11" name="Text 9"/>
          <p:cNvSpPr/>
          <p:nvPr/>
        </p:nvSpPr>
        <p:spPr>
          <a:xfrm>
            <a:off x="987552" y="245059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model achieves R² = 0.917</a:t>
            </a:r>
            <a:endParaRPr lang="en-US" sz="1130"/>
          </a:p>
        </p:txBody>
      </p:sp>
      <p:sp>
        <p:nvSpPr>
          <p:cNvPr id="12" name="Text 10"/>
          <p:cNvSpPr/>
          <p:nvPr/>
        </p:nvSpPr>
        <p:spPr>
          <a:xfrm>
            <a:off x="987552" y="2724912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6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cities exceeded R² = 0.90; CWEEDS data reliably predicts PV output hourly</a:t>
            </a:r>
            <a:endParaRPr lang="en-US" sz="960"/>
          </a:p>
        </p:txBody>
      </p:sp>
      <p:sp>
        <p:nvSpPr>
          <p:cNvPr id="13" name="Shape 11"/>
          <p:cNvSpPr/>
          <p:nvPr/>
        </p:nvSpPr>
        <p:spPr>
          <a:xfrm>
            <a:off x="548640" y="3255264"/>
            <a:ext cx="310896" cy="310896"/>
          </a:xfrm>
          <a:prstGeom prst="ellipse">
            <a:avLst/>
          </a:prstGeom>
          <a:solidFill>
            <a:srgbClr val="FEF3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4" b="1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84"/>
          </a:p>
        </p:txBody>
      </p:sp>
      <p:sp>
        <p:nvSpPr>
          <p:cNvPr id="15" name="Text 13"/>
          <p:cNvSpPr/>
          <p:nvPr/>
        </p:nvSpPr>
        <p:spPr>
          <a:xfrm>
            <a:off x="987552" y="322783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SAIT pattern correlation: r = 0.97</a:t>
            </a:r>
            <a:endParaRPr lang="en-US" sz="1130"/>
          </a:p>
        </p:txBody>
      </p:sp>
      <p:sp>
        <p:nvSpPr>
          <p:cNvPr id="16" name="Text 14"/>
          <p:cNvSpPr/>
          <p:nvPr/>
        </p:nvSpPr>
        <p:spPr>
          <a:xfrm>
            <a:off x="987552" y="3502152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6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GHI and real campus PV profiles show near-perfect seasonal/diurnal alignment</a:t>
            </a:r>
            <a:endParaRPr lang="en-US" sz="960"/>
          </a:p>
        </p:txBody>
      </p:sp>
      <p:sp>
        <p:nvSpPr>
          <p:cNvPr id="17" name="Shape 15"/>
          <p:cNvSpPr/>
          <p:nvPr/>
        </p:nvSpPr>
        <p:spPr>
          <a:xfrm>
            <a:off x="548640" y="4032504"/>
            <a:ext cx="310896" cy="310896"/>
          </a:xfrm>
          <a:prstGeom prst="ellipse">
            <a:avLst/>
          </a:prstGeom>
          <a:solidFill>
            <a:srgbClr val="FEF3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4032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4" b="1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84"/>
          </a:p>
        </p:txBody>
      </p:sp>
      <p:sp>
        <p:nvSpPr>
          <p:cNvPr id="19" name="Text 17"/>
          <p:cNvSpPr/>
          <p:nvPr/>
        </p:nvSpPr>
        <p:spPr>
          <a:xfrm>
            <a:off x="987552" y="400507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under 10 years achievable</a:t>
            </a:r>
            <a:endParaRPr lang="en-US" sz="1130"/>
          </a:p>
        </p:txBody>
      </p:sp>
      <p:sp>
        <p:nvSpPr>
          <p:cNvPr id="20" name="Text 18"/>
          <p:cNvSpPr/>
          <p:nvPr/>
        </p:nvSpPr>
        <p:spPr>
          <a:xfrm>
            <a:off x="987552" y="4279392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6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optimistic assumptions, all four cities reach payback in under 10.2 years</a:t>
            </a:r>
            <a:endParaRPr lang="en-US" sz="960"/>
          </a:p>
        </p:txBody>
      </p:sp>
      <p:sp>
        <p:nvSpPr>
          <p:cNvPr id="21" name="Shape 19"/>
          <p:cNvSpPr/>
          <p:nvPr/>
        </p:nvSpPr>
        <p:spPr>
          <a:xfrm>
            <a:off x="548640" y="4809744"/>
            <a:ext cx="310896" cy="310896"/>
          </a:xfrm>
          <a:prstGeom prst="ellipse">
            <a:avLst/>
          </a:prstGeom>
          <a:solidFill>
            <a:srgbClr val="FEF3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4809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4" b="1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84"/>
          </a:p>
        </p:txBody>
      </p:sp>
      <p:sp>
        <p:nvSpPr>
          <p:cNvPr id="23" name="Text 21"/>
          <p:cNvSpPr/>
          <p:nvPr/>
        </p:nvSpPr>
        <p:spPr>
          <a:xfrm>
            <a:off x="987552" y="478231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Edmonton: only city with a significant GHI trend</a:t>
            </a:r>
            <a:endParaRPr lang="en-US" sz="1130"/>
          </a:p>
        </p:txBody>
      </p:sp>
      <p:sp>
        <p:nvSpPr>
          <p:cNvPr id="24" name="Text 22"/>
          <p:cNvSpPr/>
          <p:nvPr/>
        </p:nvSpPr>
        <p:spPr>
          <a:xfrm>
            <a:off x="987552" y="5056632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6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+2.6 kWh/m²/decade (p = 0.02); the other three cities show stable resources</a:t>
            </a:r>
            <a:endParaRPr lang="en-US" sz="960"/>
          </a:p>
        </p:txBody>
      </p:sp>
      <p:sp>
        <p:nvSpPr>
          <p:cNvPr id="25" name="Text 23"/>
          <p:cNvSpPr/>
          <p:nvPr/>
        </p:nvSpPr>
        <p:spPr>
          <a:xfrm>
            <a:off x="630936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Recommendations to the AUC</a:t>
            </a:r>
            <a:endParaRPr lang="en-US" sz="1300"/>
          </a:p>
        </p:txBody>
      </p:sp>
      <p:sp>
        <p:nvSpPr>
          <p:cNvPr id="26" name="Shape 24"/>
          <p:cNvSpPr/>
          <p:nvPr/>
        </p:nvSpPr>
        <p:spPr>
          <a:xfrm>
            <a:off x="6309360" y="1700784"/>
            <a:ext cx="5148072" cy="1207008"/>
          </a:xfrm>
          <a:prstGeom prst="roundRect">
            <a:avLst>
              <a:gd name="adj" fmla="val 6061"/>
            </a:avLst>
          </a:prstGeom>
          <a:solidFill>
            <a:srgbClr val="132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510528" y="1901952"/>
            <a:ext cx="329184" cy="329184"/>
          </a:xfrm>
          <a:prstGeom prst="ellipse">
            <a:avLst/>
          </a:prstGeom>
          <a:solidFill>
            <a:srgbClr val="F5B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510528" y="1901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6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36"/>
          </a:p>
        </p:txBody>
      </p:sp>
      <p:sp>
        <p:nvSpPr>
          <p:cNvPr id="29" name="Text 27"/>
          <p:cNvSpPr/>
          <p:nvPr/>
        </p:nvSpPr>
        <p:spPr>
          <a:xfrm>
            <a:off x="6967728" y="1819656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southern Alberta incentives</a:t>
            </a:r>
            <a:endParaRPr lang="en-US" sz="1200"/>
          </a:p>
        </p:txBody>
      </p:sp>
      <p:sp>
        <p:nvSpPr>
          <p:cNvPr id="30" name="Text 28"/>
          <p:cNvSpPr/>
          <p:nvPr/>
        </p:nvSpPr>
        <p:spPr>
          <a:xfrm>
            <a:off x="6967728" y="2112264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Lethbridge and Medicine Hat show 9.3–9.4-year best-case payback  target these cities first for micro-generation programs.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309360" y="3044952"/>
            <a:ext cx="5148072" cy="1207008"/>
          </a:xfrm>
          <a:prstGeom prst="roundRect">
            <a:avLst>
              <a:gd name="adj" fmla="val 6061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510528" y="3246120"/>
            <a:ext cx="329184" cy="329184"/>
          </a:xfrm>
          <a:prstGeom prst="ellipse">
            <a:avLst/>
          </a:prstGeom>
          <a:solidFill>
            <a:srgbClr val="132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510528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6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36"/>
          </a:p>
        </p:txBody>
      </p:sp>
      <p:sp>
        <p:nvSpPr>
          <p:cNvPr id="34" name="Text 32"/>
          <p:cNvSpPr/>
          <p:nvPr/>
        </p:nvSpPr>
        <p:spPr>
          <a:xfrm>
            <a:off x="6967728" y="316382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city-specific tilt angles</a:t>
            </a:r>
            <a:endParaRPr lang="en-US" sz="1200"/>
          </a:p>
        </p:txBody>
      </p:sp>
      <p:sp>
        <p:nvSpPr>
          <p:cNvPr id="35" name="Text 33"/>
          <p:cNvSpPr/>
          <p:nvPr/>
        </p:nvSpPr>
        <p:spPr>
          <a:xfrm>
            <a:off x="6967728" y="3456432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Recommend 39° to 42° depending on city, not a provincial average, in installation guidelines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309360" y="4389120"/>
            <a:ext cx="5148072" cy="1207008"/>
          </a:xfrm>
          <a:prstGeom prst="roundRect">
            <a:avLst>
              <a:gd name="adj" fmla="val 6061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510528" y="4590288"/>
            <a:ext cx="329184" cy="329184"/>
          </a:xfrm>
          <a:prstGeom prst="ellipse">
            <a:avLst/>
          </a:prstGeom>
          <a:solidFill>
            <a:srgbClr val="132A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510528" y="4590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6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36"/>
          </a:p>
        </p:txBody>
      </p:sp>
      <p:sp>
        <p:nvSpPr>
          <p:cNvPr id="39" name="Text 37"/>
          <p:cNvSpPr/>
          <p:nvPr/>
        </p:nvSpPr>
        <p:spPr>
          <a:xfrm>
            <a:off x="6967728" y="4507992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a post-2017 CWEEDS update</a:t>
            </a:r>
            <a:endParaRPr lang="en-US" sz="1200"/>
          </a:p>
        </p:txBody>
      </p:sp>
      <p:sp>
        <p:nvSpPr>
          <p:cNvPr id="40" name="Text 38"/>
          <p:cNvSpPr/>
          <p:nvPr/>
        </p:nvSpPr>
        <p:spPr>
          <a:xfrm>
            <a:off x="6967728" y="480060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Extend trend analysis with 2018 and present data to capture Alberta's recent renewable energy expansion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FEF3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48640" y="580644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direct software cost: $0   ·   Methodology is fully open-source and replicable for any Alberta municipality</a:t>
            </a:r>
            <a:endParaRPr lang="en-US" sz="1150"/>
          </a:p>
        </p:txBody>
      </p:sp>
      <p:sp>
        <p:nvSpPr>
          <p:cNvPr id="43" name="Text 41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Energy Potential Analysis Across Alberta  |  SAIT Data Analytics Capstone 2026  |  Group 3</a:t>
            </a:r>
            <a:endParaRPr lang="en-US" sz="850"/>
          </a:p>
        </p:txBody>
      </p:sp>
      <p:sp>
        <p:nvSpPr>
          <p:cNvPr id="44" name="Text 42"/>
          <p:cNvSpPr/>
          <p:nvPr/>
        </p:nvSpPr>
        <p:spPr>
          <a:xfrm>
            <a:off x="10972800" y="65471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8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10544" y="1005840"/>
            <a:ext cx="146304" cy="914"/>
          </a:xfrm>
          <a:prstGeom prst="line">
            <a:avLst/>
          </a:prstGeom>
          <a:noFill/>
          <a:ln w="254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060564" y="1367924"/>
            <a:ext cx="103453" cy="103453"/>
          </a:xfrm>
          <a:prstGeom prst="line">
            <a:avLst/>
          </a:prstGeom>
          <a:noFill/>
          <a:ln w="254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698480" y="1517904"/>
            <a:ext cx="914" cy="146304"/>
          </a:xfrm>
          <a:prstGeom prst="line">
            <a:avLst/>
          </a:prstGeom>
          <a:noFill/>
          <a:ln w="254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232944" y="1367924"/>
            <a:ext cx="103453" cy="103453"/>
          </a:xfrm>
          <a:prstGeom prst="line">
            <a:avLst/>
          </a:prstGeom>
          <a:noFill/>
          <a:ln w="254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040112" y="1005840"/>
            <a:ext cx="146304" cy="914"/>
          </a:xfrm>
          <a:prstGeom prst="line">
            <a:avLst/>
          </a:prstGeom>
          <a:noFill/>
          <a:ln w="254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232944" y="540304"/>
            <a:ext cx="103453" cy="103453"/>
          </a:xfrm>
          <a:prstGeom prst="line">
            <a:avLst/>
          </a:prstGeom>
          <a:noFill/>
          <a:ln w="254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698480" y="347472"/>
            <a:ext cx="914" cy="146304"/>
          </a:xfrm>
          <a:prstGeom prst="line">
            <a:avLst/>
          </a:prstGeom>
          <a:noFill/>
          <a:ln w="254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060564" y="540304"/>
            <a:ext cx="103453" cy="103453"/>
          </a:xfrm>
          <a:prstGeom prst="line">
            <a:avLst/>
          </a:prstGeom>
          <a:noFill/>
          <a:ln w="254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241280" y="548640"/>
            <a:ext cx="914400" cy="914400"/>
          </a:xfrm>
          <a:prstGeom prst="ellipse">
            <a:avLst/>
          </a:prstGeom>
          <a:solidFill>
            <a:srgbClr val="F5B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6077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>
                <a:solidFill>
                  <a:srgbClr val="FFFFFF"/>
                </a:solidFill>
                <a:latin typeface="Cambria"/>
                <a:ea typeface="Cambria"/>
              </a:rPr>
              <a:t>Acknowledgement</a:t>
            </a:r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10881360" cy="0"/>
          </a:xfrm>
          <a:prstGeom prst="line">
            <a:avLst/>
          </a:prstGeom>
          <a:noFill/>
          <a:ln w="12700">
            <a:solidFill>
              <a:srgbClr val="2A46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6080" y="402739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>
              <a:solidFill>
                <a:srgbClr val="9FB0C4"/>
              </a:solidFill>
              <a:ea typeface="Calibri"/>
              <a:cs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008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  |  SAIT Data Analytics Capstone 2026  |  Client: Alberta Utilities Commission</a:t>
            </a:r>
            <a:endParaRPr lang="en-US" sz="100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FDCD9B10-C21B-56AC-ED80-822E1F712188}"/>
              </a:ext>
            </a:extLst>
          </p:cNvPr>
          <p:cNvSpPr/>
          <p:nvPr/>
        </p:nvSpPr>
        <p:spPr>
          <a:xfrm>
            <a:off x="676080" y="3961368"/>
            <a:ext cx="10577040" cy="60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rgbClr val="9FB0C4"/>
                </a:solidFill>
                <a:latin typeface="Calibri"/>
                <a:ea typeface="Calibri"/>
                <a:cs typeface="Calibri"/>
              </a:rPr>
              <a:t>SAIT’s Applied Research and Innovation Services’ (ARIS) - Green Building Technology Access Centre (GBTAC) 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endParaRPr lang="en-US" sz="900">
              <a:solidFill>
                <a:srgbClr val="9FB0C4"/>
              </a:solidFill>
              <a:latin typeface="Calibri"/>
              <a:ea typeface="Calibri"/>
              <a:cs typeface="Calibri"/>
            </a:endParaRPr>
          </a:p>
          <a:p>
            <a:endParaRPr lang="en-US" sz="900">
              <a:solidFill>
                <a:srgbClr val="9FB0C4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DB1556-1B5F-8E62-0601-076EE4987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32B69C6-6570-F594-40EF-C6C5AE21E754}"/>
              </a:ext>
            </a:extLst>
          </p:cNvPr>
          <p:cNvSpPr/>
          <p:nvPr/>
        </p:nvSpPr>
        <p:spPr>
          <a:xfrm>
            <a:off x="11210544" y="1005840"/>
            <a:ext cx="146304" cy="914"/>
          </a:xfrm>
          <a:prstGeom prst="line">
            <a:avLst/>
          </a:prstGeom>
          <a:noFill/>
          <a:ln w="254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2F2BC9A-D320-93EB-8BBD-44EAAD9BFC0B}"/>
              </a:ext>
            </a:extLst>
          </p:cNvPr>
          <p:cNvSpPr/>
          <p:nvPr/>
        </p:nvSpPr>
        <p:spPr>
          <a:xfrm>
            <a:off x="11060564" y="1367924"/>
            <a:ext cx="103453" cy="103453"/>
          </a:xfrm>
          <a:prstGeom prst="line">
            <a:avLst/>
          </a:prstGeom>
          <a:noFill/>
          <a:ln w="254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385CDBA-2E76-1F3F-E9E9-9BFA63485863}"/>
              </a:ext>
            </a:extLst>
          </p:cNvPr>
          <p:cNvSpPr/>
          <p:nvPr/>
        </p:nvSpPr>
        <p:spPr>
          <a:xfrm>
            <a:off x="10698480" y="1517904"/>
            <a:ext cx="914" cy="146304"/>
          </a:xfrm>
          <a:prstGeom prst="line">
            <a:avLst/>
          </a:prstGeom>
          <a:noFill/>
          <a:ln w="254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F080088-D679-4775-4447-5DE49CB771D6}"/>
              </a:ext>
            </a:extLst>
          </p:cNvPr>
          <p:cNvSpPr/>
          <p:nvPr/>
        </p:nvSpPr>
        <p:spPr>
          <a:xfrm>
            <a:off x="10232944" y="1367924"/>
            <a:ext cx="103453" cy="103453"/>
          </a:xfrm>
          <a:prstGeom prst="line">
            <a:avLst/>
          </a:prstGeom>
          <a:noFill/>
          <a:ln w="254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00C340B-5AFF-C41B-0337-E21191CC8686}"/>
              </a:ext>
            </a:extLst>
          </p:cNvPr>
          <p:cNvSpPr/>
          <p:nvPr/>
        </p:nvSpPr>
        <p:spPr>
          <a:xfrm>
            <a:off x="10040112" y="1005840"/>
            <a:ext cx="146304" cy="914"/>
          </a:xfrm>
          <a:prstGeom prst="line">
            <a:avLst/>
          </a:prstGeom>
          <a:noFill/>
          <a:ln w="254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F3D704A-5FB1-21BB-C80E-AFCACDF20794}"/>
              </a:ext>
            </a:extLst>
          </p:cNvPr>
          <p:cNvSpPr/>
          <p:nvPr/>
        </p:nvSpPr>
        <p:spPr>
          <a:xfrm>
            <a:off x="10232944" y="540304"/>
            <a:ext cx="103453" cy="103453"/>
          </a:xfrm>
          <a:prstGeom prst="line">
            <a:avLst/>
          </a:prstGeom>
          <a:noFill/>
          <a:ln w="254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71B78B9-5D2E-D6FB-0B7B-461B4D429836}"/>
              </a:ext>
            </a:extLst>
          </p:cNvPr>
          <p:cNvSpPr/>
          <p:nvPr/>
        </p:nvSpPr>
        <p:spPr>
          <a:xfrm>
            <a:off x="10698480" y="347472"/>
            <a:ext cx="914" cy="146304"/>
          </a:xfrm>
          <a:prstGeom prst="line">
            <a:avLst/>
          </a:prstGeom>
          <a:noFill/>
          <a:ln w="254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7B9F613-8C06-C1C5-0BC6-41BE17F2D6E2}"/>
              </a:ext>
            </a:extLst>
          </p:cNvPr>
          <p:cNvSpPr/>
          <p:nvPr/>
        </p:nvSpPr>
        <p:spPr>
          <a:xfrm>
            <a:off x="11060564" y="540304"/>
            <a:ext cx="103453" cy="103453"/>
          </a:xfrm>
          <a:prstGeom prst="line">
            <a:avLst/>
          </a:prstGeom>
          <a:noFill/>
          <a:ln w="254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79CCFF2-9166-DD0C-F9AF-82493832D6C6}"/>
              </a:ext>
            </a:extLst>
          </p:cNvPr>
          <p:cNvSpPr/>
          <p:nvPr/>
        </p:nvSpPr>
        <p:spPr>
          <a:xfrm>
            <a:off x="10241280" y="548640"/>
            <a:ext cx="914400" cy="914400"/>
          </a:xfrm>
          <a:prstGeom prst="ellipse">
            <a:avLst/>
          </a:prstGeom>
          <a:solidFill>
            <a:srgbClr val="F5B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6A63822-DC3D-2E23-F243-F45794DD5BB6}"/>
              </a:ext>
            </a:extLst>
          </p:cNvPr>
          <p:cNvSpPr/>
          <p:nvPr/>
        </p:nvSpPr>
        <p:spPr>
          <a:xfrm>
            <a:off x="640080" y="23317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BE9C711-3728-8BA3-F289-86CF028A74D0}"/>
              </a:ext>
            </a:extLst>
          </p:cNvPr>
          <p:cNvSpPr/>
          <p:nvPr/>
        </p:nvSpPr>
        <p:spPr>
          <a:xfrm>
            <a:off x="64008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>
                <a:solidFill>
                  <a:srgbClr val="F5B700"/>
                </a:solidFill>
                <a:latin typeface="Calibri"/>
                <a:ea typeface="Calibri"/>
                <a:cs typeface="Calibri"/>
              </a:rPr>
              <a:t>Questions &amp; Discussion</a:t>
            </a:r>
            <a:endParaRPr lang="en-US" sz="17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BFADC84-C01E-C725-44A1-DC86E9DFD86F}"/>
              </a:ext>
            </a:extLst>
          </p:cNvPr>
          <p:cNvSpPr/>
          <p:nvPr/>
        </p:nvSpPr>
        <p:spPr>
          <a:xfrm>
            <a:off x="640080" y="3794760"/>
            <a:ext cx="10881360" cy="0"/>
          </a:xfrm>
          <a:prstGeom prst="line">
            <a:avLst/>
          </a:prstGeom>
          <a:noFill/>
          <a:ln w="12700">
            <a:solidFill>
              <a:srgbClr val="2A46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6A0B7D7-C485-0805-8F5B-3DABBC0E6948}"/>
              </a:ext>
            </a:extLst>
          </p:cNvPr>
          <p:cNvSpPr/>
          <p:nvPr/>
        </p:nvSpPr>
        <p:spPr>
          <a:xfrm>
            <a:off x="640080" y="3857981"/>
            <a:ext cx="3657600" cy="43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B54AEBA-08FE-A104-AE17-1F26EF06F3B8}"/>
              </a:ext>
            </a:extLst>
          </p:cNvPr>
          <p:cNvSpPr/>
          <p:nvPr/>
        </p:nvSpPr>
        <p:spPr>
          <a:xfrm>
            <a:off x="640080" y="427939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Environment and Climate Change Canada. (2023). Canadian Weather Energy and Engineering Datasets (CWEEDS)</a:t>
            </a:r>
            <a:endParaRPr lang="en-US" sz="93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B89BBEC-B7E7-CCC6-968E-5C67F083295A}"/>
              </a:ext>
            </a:extLst>
          </p:cNvPr>
          <p:cNvSpPr/>
          <p:nvPr/>
        </p:nvSpPr>
        <p:spPr>
          <a:xfrm>
            <a:off x="640080" y="4526280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Natural Resources Canada. (2023). Canadian Weather Year for Energy Calculation (CWEC). Open Government Portal</a:t>
            </a:r>
            <a:endParaRPr lang="en-US" sz="93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A4C0925-60AA-FC25-5323-3D7F93875981}"/>
              </a:ext>
            </a:extLst>
          </p:cNvPr>
          <p:cNvSpPr/>
          <p:nvPr/>
        </p:nvSpPr>
        <p:spPr>
          <a:xfrm>
            <a:off x="640080" y="477316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Duffie, J. A., &amp; Beckman, W. A. (2013). Solar Engineering of Thermal Processes (4th ed.). Wiley</a:t>
            </a:r>
            <a:endParaRPr lang="en-US" sz="93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F5BE5A1-2CA2-2DB4-0BBD-1A2012CE91B1}"/>
              </a:ext>
            </a:extLst>
          </p:cNvPr>
          <p:cNvSpPr/>
          <p:nvPr/>
        </p:nvSpPr>
        <p:spPr>
          <a:xfrm>
            <a:off x="640080" y="5020056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Gadiwan, A., &amp; Shahbazi, M. (2019). Rooftop solar energy potential of Calgary. University of Calgary</a:t>
            </a:r>
            <a:endParaRPr lang="en-US" sz="93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35822C7-CF39-D34C-076A-1AB2598F33CD}"/>
              </a:ext>
            </a:extLst>
          </p:cNvPr>
          <p:cNvSpPr/>
          <p:nvPr/>
        </p:nvSpPr>
        <p:spPr>
          <a:xfrm>
            <a:off x="640080" y="5266944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Chen, T., &amp; Guestrin, C. (2016). XGBoost: A scalable tree boosting system. ACM SIGKDD</a:t>
            </a:r>
            <a:endParaRPr lang="en-US" sz="93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2F4618A-710B-0098-7EE5-FB7034D4552F}"/>
              </a:ext>
            </a:extLst>
          </p:cNvPr>
          <p:cNvSpPr/>
          <p:nvPr/>
        </p:nvSpPr>
        <p:spPr>
          <a:xfrm>
            <a:off x="640080" y="551383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Alberta Utilities Commission. (2024). Micro-generation regulation. auc.ab.ca</a:t>
            </a:r>
            <a:endParaRPr lang="en-US" sz="93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C05A325-13B2-4E12-0517-5CD5FF97DC6F}"/>
              </a:ext>
            </a:extLst>
          </p:cNvPr>
          <p:cNvSpPr/>
          <p:nvPr/>
        </p:nvSpPr>
        <p:spPr>
          <a:xfrm>
            <a:off x="64008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  |  SAIT Data Analytics Capstone 2026  |  Client: Alberta Utilities Commission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567835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FE41AC2584A74F926288119A366D45" ma:contentTypeVersion="3" ma:contentTypeDescription="Create a new document." ma:contentTypeScope="" ma:versionID="ff43daf443a4f63ebde1f67bb9c71b1d">
  <xsd:schema xmlns:xsd="http://www.w3.org/2001/XMLSchema" xmlns:xs="http://www.w3.org/2001/XMLSchema" xmlns:p="http://schemas.microsoft.com/office/2006/metadata/properties" xmlns:ns2="7d341737-9aa3-496a-bdbe-11208bad49e9" targetNamespace="http://schemas.microsoft.com/office/2006/metadata/properties" ma:root="true" ma:fieldsID="903a134c1fa4faecf8b8ec354301e829" ns2:_="">
    <xsd:import namespace="7d341737-9aa3-496a-bdbe-11208bad49e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341737-9aa3-496a-bdbe-11208bad49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2F9DB28-9449-4441-8949-43B2AFB08278}">
  <ds:schemaRefs>
    <ds:schemaRef ds:uri="7d341737-9aa3-496a-bdbe-11208bad49e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8A376DE-80CF-4F45-B2A3-E09E363FE13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3EADAA0-176D-41DD-A835-A3D6B9513AE0}">
  <ds:schemaRefs>
    <ds:schemaRef ds:uri="7d341737-9aa3-496a-bdbe-11208bad49e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13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Solar Energy Potential Analysis Across Alberta</dc:title>
  <dc:subject>PptxGenJS Presentation</dc:subject>
  <dc:creator>Group 3</dc:creator>
  <cp:revision>17</cp:revision>
  <dcterms:created xsi:type="dcterms:W3CDTF">2026-08-11T04:23:03Z</dcterms:created>
  <dcterms:modified xsi:type="dcterms:W3CDTF">2026-08-14T19:10:44Z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0x010100D7FE41AC2584A74F926288119A366D45</vt:lpwstr>
  </property>
</Properties>
</file>